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notesMasterIdLst>
    <p:notesMasterId r:id="rId12"/>
  </p:notesMasterIdLst>
  <p:sldIdLst>
    <p:sldId id="256" r:id="rId2"/>
    <p:sldId id="265" r:id="rId3"/>
    <p:sldId id="260" r:id="rId4"/>
    <p:sldId id="269" r:id="rId5"/>
    <p:sldId id="262" r:id="rId6"/>
    <p:sldId id="266" r:id="rId7"/>
    <p:sldId id="267" r:id="rId8"/>
    <p:sldId id="268" r:id="rId9"/>
    <p:sldId id="258" r:id="rId10"/>
    <p:sldId id="263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2028-12E1-4C45-88DB-9E34EE2E4D2F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15D64-A4B5-4C92-96D9-46D8FF37C36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975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DC0C-E14A-46F8-80AE-1DD5063B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BDF92-232E-4FF7-BE5C-08F7596F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27C62-9187-4553-B0F8-853C385A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EA72-C5E9-416A-9B9B-6C31B1E80C81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150C-20BF-4CA1-8CBB-F26AD81E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1EF0-0F12-4091-9C11-ED91F7F0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547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051F-7BD3-447B-B7DD-2B162452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9D10-E1D0-4BF1-92F0-5E6E88A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5688F-83E5-4DE7-851E-D02C473C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68-2F62-4843-A6BE-942CE606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859BE-8F79-4A50-AFAB-476409C3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093882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89E7-62D3-4A28-9BC5-25DE5139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0C5B3-D9F9-4231-B05D-70D311D59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276D4-5F71-4A73-B6CE-D370EF9C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E24B2-D879-4636-863F-16C19AEA1D9F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2A34-7F53-4BF8-871A-898D888E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0640-CDF5-4885-A784-14777BBD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59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9553-F2C5-4778-B392-88788CC6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1265-4D5E-4AC9-B89A-5D00A0EC7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672D2-1290-4E4F-8F36-811A88291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6C10F-4A71-486A-B8E2-7F58C366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C9FAC-453D-4650-85B8-133C88C5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D7007-84F0-4034-B5BD-DE9C0344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190624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0EC5-2A7D-4BFA-8271-0971EA181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48F08-145E-44D7-8A91-ADBA8E8BC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EF4D5-7A9D-4E10-AC74-08935E0C8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C19D-0DC6-480E-B034-7E1D26CE9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7A29E-02BF-4944-9EF4-B6638F165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4A07B-B8D7-4CA9-AEC5-FC0D363E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2E125-AEB1-43C0-BC30-92B2F4E6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F27A3-FB43-484B-BC97-B7F2FA7F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485186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FD8C-FD16-44E9-AD0A-BFD7AB32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153A7-F5D9-4A41-94A2-D5E51230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8AD84-A747-40C6-8719-6DB7B03B96BE}" type="datetime1">
              <a:rPr lang="LID4096" smtClean="0"/>
              <a:t>09/14/2026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4C158-469A-453E-B91E-F17338C0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6D97E-4C05-4404-9CA4-1BF41EBC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1357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9A578-A46F-48DA-A49B-7B7F2937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ECC3-810B-44F3-968C-A2B7161D6260}" type="datetime1">
              <a:rPr lang="LID4096" smtClean="0"/>
              <a:t>09/14/2026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95A97-1676-444A-8D14-369F9663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A7A9C-B80B-44B8-A5E8-46321FE7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299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1D1E-0C97-4993-9996-C7E54175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3F228-32A2-4B65-BBE0-A309EECC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02C4E-193D-4EF1-9D4C-BE7EEA094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E4802-178D-472F-A025-43D93896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BD000-8DAA-4E98-A588-8BBA0A0D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217F5-8ED7-4329-98DA-BBA0ABF3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5086915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F26B-64C2-4525-87FA-D72A5AED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7C94D-F73A-4CEF-AF10-D31588C16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7155E-F92D-47A3-B263-8AE20AD43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9725B-53A3-4CF6-9DEC-68137C98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7083-A02D-4552-B45C-5D7DE9F27D3F}" type="datetime1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6A0-805F-44ED-A726-190B632C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2074-92D8-4D6C-826D-1BE287A2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46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50A4-757B-4783-8A1B-2730F9A0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A5C60-7006-405E-A428-FB76165CE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50FA9-0ACA-4037-A9AC-FFCD0474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C6758-CFA4-41B3-8F31-9F695FD0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70896-2FCF-4CA3-A648-3098696C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380937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D97FB-E546-4635-BA66-FFF798609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F1267-F6A8-41E2-A890-E5A9E1546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3ABC0-A670-4761-857F-36454A38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EB7F-A10E-4592-9380-E148407E1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30BF5-2406-4484-825C-D3B16768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18983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D753C-99B8-4C54-8257-B0EEC3C1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5FD04-BB26-45B3-935E-23444B185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A5AD6-9462-4645-8E42-1AA56B4D7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95664-E9AB-4213-A8C1-B4593E717E04}" type="datetime1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2DE79-9B29-438E-A932-716C4A02E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A44D-8602-43AF-9BAA-2BA4888CB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73B33-7066-4CC4-AC23-4AD056EB015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561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536B613-5F37-4A05-9204-D37E7011D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296" y="1089911"/>
            <a:ext cx="10884023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Urban Air Pollution Challenge</a:t>
            </a:r>
            <a:endParaRPr kumimoji="0" lang="en-US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(Body)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(Body)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LID4096" sz="3200" b="1" dirty="0">
              <a:latin typeface="Tw Cen MT (Body)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Machine Learning Project: Predicting Daily PM2.5 Concentrations Using Machine Learning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LID4096" sz="3200" b="1" dirty="0">
              <a:latin typeface="Tw Cen MT (Body)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LID4096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(Body)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dirty="0"/>
              <a:t>Integrating Ground-Based Sensors, GFS (Global Forecast System) Weather Data and Sentinel-5P Satellite Observations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71868-34E3-418A-AB5C-E93E09A92515}"/>
              </a:ext>
            </a:extLst>
          </p:cNvPr>
          <p:cNvSpPr txBox="1"/>
          <p:nvPr/>
        </p:nvSpPr>
        <p:spPr>
          <a:xfrm>
            <a:off x="88776" y="6534834"/>
            <a:ext cx="593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Kueshi Sémanou Dahan, contact: dkueshi09@gmail.com</a:t>
            </a:r>
            <a:endParaRPr lang="LID4096" sz="16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AE66B8-BA6A-4BB7-8875-AE8CD431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05696" y="6492875"/>
            <a:ext cx="2743200" cy="365125"/>
          </a:xfrm>
        </p:spPr>
        <p:txBody>
          <a:bodyPr/>
          <a:lstStyle/>
          <a:p>
            <a:fld id="{E05C0D58-CA5A-4496-855F-8E8EF7386D4C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DA1605-AC27-4A23-9502-1F0AF334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1</a:t>
            </a:fld>
            <a:endParaRPr lang="LID4096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8E6228-722D-479F-AD17-4785C981A374}"/>
              </a:ext>
            </a:extLst>
          </p:cNvPr>
          <p:cNvSpPr/>
          <p:nvPr/>
        </p:nvSpPr>
        <p:spPr>
          <a:xfrm>
            <a:off x="292963" y="301841"/>
            <a:ext cx="11655933" cy="609646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70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4AAA7-9022-44CC-95CE-D5592371FF8B}"/>
              </a:ext>
            </a:extLst>
          </p:cNvPr>
          <p:cNvSpPr txBox="1"/>
          <p:nvPr/>
        </p:nvSpPr>
        <p:spPr>
          <a:xfrm>
            <a:off x="487567" y="5726794"/>
            <a:ext cx="10951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FF0000"/>
                </a:solidFill>
                <a:effectLst/>
                <a:latin typeface="Tw Cen MT (Body)"/>
                <a:cs typeface="Arial" panose="020B0604020202020204" pitchFamily="34" charset="0"/>
              </a:rPr>
              <a:t>Can weather and satellite-derived atmospheric variables accurately predict daily PM2.5 concentrations?</a:t>
            </a:r>
            <a:endParaRPr lang="en-GB" dirty="0">
              <a:latin typeface="Tw Cen MT (Body)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1A9C-972F-4CA2-9ADE-47AF8552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8132081-7698-4D9F-9F70-6FD8CFA17ED9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8ECAD-4141-4713-990B-0DD70ACC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33" y="6508352"/>
            <a:ext cx="295849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2</a:t>
            </a:fld>
            <a:endParaRPr lang="LID4096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F00A3-7109-4A80-8F6F-5206F03CBCF5}"/>
              </a:ext>
            </a:extLst>
          </p:cNvPr>
          <p:cNvSpPr txBox="1"/>
          <p:nvPr/>
        </p:nvSpPr>
        <p:spPr>
          <a:xfrm>
            <a:off x="691752" y="1494812"/>
            <a:ext cx="103698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The objective of this challenge is to predict PM2.5 particulate matter concentration in the air every day for each city:  predict daily PM2.5 concentration for each city.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PM2.5 = fine particulate matter &lt;2.5 µm.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LID4096" dirty="0">
              <a:latin typeface="Tw Cen MT (Body)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LID4096" dirty="0">
              <a:latin typeface="Tw Cen MT (Body)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Target variable</a:t>
            </a: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: </a:t>
            </a:r>
            <a:r>
              <a:rPr kumimoji="0" lang="en-GB" altLang="LID4096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w Cen MT (Body)"/>
              </a:rPr>
              <a:t>target = daily mean </a:t>
            </a: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w Cen MT (Body)"/>
              </a:rPr>
              <a:t>PM2.5 concentration</a:t>
            </a: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LID4096" dirty="0">
              <a:latin typeface="Tw Cen MT (Body)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LID4096" dirty="0">
              <a:latin typeface="Tw Cen MT (Body)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Train set contains observed PM2.5 measurements.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Test set contains locations/dates for which PM2.5 must </a:t>
            </a:r>
            <a:r>
              <a:rPr kumimoji="0" lang="en-GB" altLang="LID4096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w Cen MT (Body)"/>
              </a:rPr>
              <a:t>be predicted</a:t>
            </a: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(Body)"/>
              </a:rPr>
              <a:t>.</a:t>
            </a:r>
            <a:endParaRPr kumimoji="0" lang="LID4096" altLang="LID4096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(Body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E27B4-E4F2-4E8C-8B15-67EDADF83FF3}"/>
              </a:ext>
            </a:extLst>
          </p:cNvPr>
          <p:cNvSpPr txBox="1"/>
          <p:nvPr/>
        </p:nvSpPr>
        <p:spPr>
          <a:xfrm>
            <a:off x="620730" y="4901523"/>
            <a:ext cx="4350765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i="0" dirty="0">
                <a:solidFill>
                  <a:schemeClr val="bg1"/>
                </a:solidFill>
                <a:effectLst/>
                <a:latin typeface="Tw Cen MT (Body)"/>
              </a:rPr>
              <a:t>Question</a:t>
            </a:r>
            <a:endParaRPr lang="LID4096" sz="2400" b="1" dirty="0">
              <a:solidFill>
                <a:schemeClr val="bg1"/>
              </a:solidFill>
              <a:latin typeface="Tw Cen MT (Body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F7F66-F807-474C-99D8-CE8E477FF33B}"/>
              </a:ext>
            </a:extLst>
          </p:cNvPr>
          <p:cNvSpPr txBox="1"/>
          <p:nvPr/>
        </p:nvSpPr>
        <p:spPr>
          <a:xfrm>
            <a:off x="691752" y="761874"/>
            <a:ext cx="115480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LID4096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w Cen MT (Body)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440080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F2F6A-3306-4156-B466-76BAC316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23720" y="6457295"/>
            <a:ext cx="1068280" cy="365125"/>
          </a:xfrm>
        </p:spPr>
        <p:txBody>
          <a:bodyPr/>
          <a:lstStyle/>
          <a:p>
            <a:fld id="{A4FFF2FD-E501-4B9E-A2A9-D9887AE43C58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8B773-B6DF-4B4D-9383-875DF718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3165" y="6525087"/>
            <a:ext cx="452761" cy="273998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3</a:t>
            </a:fld>
            <a:endParaRPr lang="LID4096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7ED9E-AD95-4CA7-987D-3C8F1396D600}"/>
              </a:ext>
            </a:extLst>
          </p:cNvPr>
          <p:cNvSpPr txBox="1"/>
          <p:nvPr/>
        </p:nvSpPr>
        <p:spPr>
          <a:xfrm>
            <a:off x="359545" y="356397"/>
            <a:ext cx="4833892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Preparation &amp; Predictors (1/1)</a:t>
            </a:r>
            <a:endParaRPr lang="LID4096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91BD6D-51EF-45E3-B25F-FDDC7CB51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867231"/>
              </p:ext>
            </p:extLst>
          </p:nvPr>
        </p:nvGraphicFramePr>
        <p:xfrm>
          <a:off x="6152227" y="948690"/>
          <a:ext cx="5847732" cy="2286000"/>
        </p:xfrm>
        <a:graphic>
          <a:graphicData uri="http://schemas.openxmlformats.org/drawingml/2006/table">
            <a:tbl>
              <a:tblPr/>
              <a:tblGrid>
                <a:gridCol w="1949244">
                  <a:extLst>
                    <a:ext uri="{9D8B030D-6E8A-4147-A177-3AD203B41FA5}">
                      <a16:colId xmlns:a16="http://schemas.microsoft.com/office/drawing/2014/main" val="2397645061"/>
                    </a:ext>
                  </a:extLst>
                </a:gridCol>
                <a:gridCol w="1949244">
                  <a:extLst>
                    <a:ext uri="{9D8B030D-6E8A-4147-A177-3AD203B41FA5}">
                      <a16:colId xmlns:a16="http://schemas.microsoft.com/office/drawing/2014/main" val="1416354404"/>
                    </a:ext>
                  </a:extLst>
                </a:gridCol>
                <a:gridCol w="1949244">
                  <a:extLst>
                    <a:ext uri="{9D8B030D-6E8A-4147-A177-3AD203B41FA5}">
                      <a16:colId xmlns:a16="http://schemas.microsoft.com/office/drawing/2014/main" val="1081043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570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Ground sensors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PM2.5 daily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41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GFS weather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Humidity, temperature, 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Predictors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820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Sentinel-5P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NO₂, CO, SO₂, O₃, HCHO, CH₄, aerosols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Predictors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9875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42948F6-A1A0-46FA-A8F2-9EB0DBBD3C13}"/>
              </a:ext>
            </a:extLst>
          </p:cNvPr>
          <p:cNvSpPr txBox="1"/>
          <p:nvPr/>
        </p:nvSpPr>
        <p:spPr>
          <a:xfrm>
            <a:off x="6211104" y="3818139"/>
            <a:ext cx="59184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rget</a:t>
            </a:r>
            <a:r>
              <a:rPr lang="en-US" altLang="LID4096" sz="1400" dirty="0">
                <a:latin typeface="Arial Unicode MS"/>
              </a:rPr>
              <a:t> (</a:t>
            </a:r>
            <a:r>
              <a:rPr lang="en-US" altLang="LID4096" dirty="0">
                <a:solidFill>
                  <a:srgbClr val="FF0000"/>
                </a:solidFill>
                <a:latin typeface="Arial Unicode MS"/>
              </a:rPr>
              <a:t>Target mean predicted </a:t>
            </a:r>
            <a:r>
              <a:rPr kumimoji="0" lang="en-GB" altLang="LID4096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w Cen MT (Body)"/>
              </a:rPr>
              <a:t>PM2.5 particulate matter</a:t>
            </a:r>
            <a:r>
              <a:rPr lang="en-US" altLang="LID4096" sz="1400" dirty="0">
                <a:latin typeface="Arial Unicode MS"/>
              </a:rPr>
              <a:t>)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target_min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target_max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target_variance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target_count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Place_ID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Place_ID X Date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 and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correlated features (20)</a:t>
            </a:r>
            <a:endParaRPr kumimoji="0" lang="LID4096" altLang="LID4096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97471-CD12-423A-B86E-1C2ED2F6ABC9}"/>
              </a:ext>
            </a:extLst>
          </p:cNvPr>
          <p:cNvGrpSpPr/>
          <p:nvPr/>
        </p:nvGrpSpPr>
        <p:grpSpPr>
          <a:xfrm>
            <a:off x="192044" y="948690"/>
            <a:ext cx="5847731" cy="5355312"/>
            <a:chOff x="496539" y="1204614"/>
            <a:chExt cx="5847731" cy="535531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5EA59-7E6D-4D2D-B1EC-2F5BDA409BF9}"/>
                </a:ext>
              </a:extLst>
            </p:cNvPr>
            <p:cNvSpPr txBox="1"/>
            <p:nvPr/>
          </p:nvSpPr>
          <p:spPr>
            <a:xfrm>
              <a:off x="496539" y="1204614"/>
              <a:ext cx="5847731" cy="5355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b="1" dirty="0"/>
                <a:t>Raw data (</a:t>
              </a:r>
              <a:r>
                <a:rPr lang="en-GB" b="1" dirty="0">
                  <a:solidFill>
                    <a:srgbClr val="FF0000"/>
                  </a:solidFill>
                </a:rPr>
                <a:t>TrainData</a:t>
              </a:r>
              <a:r>
                <a:rPr lang="en-GB" dirty="0">
                  <a:solidFill>
                    <a:srgbClr val="FF0000"/>
                  </a:solidFill>
                </a:rPr>
                <a:t>=82 </a:t>
              </a:r>
              <a:r>
                <a:rPr kumimoji="0" lang="en-US" altLang="LID4096" sz="18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 Unicode MS"/>
                </a:rPr>
                <a:t>feature and 30,557 observations</a:t>
              </a:r>
              <a:r>
                <a:rPr lang="en-GB" dirty="0">
                  <a:solidFill>
                    <a:srgbClr val="FF0000"/>
                  </a:solidFill>
                </a:rPr>
                <a:t>, </a:t>
              </a:r>
              <a:r>
                <a:rPr lang="en-GB" b="1" dirty="0">
                  <a:solidFill>
                    <a:srgbClr val="FF0000"/>
                  </a:solidFill>
                </a:rPr>
                <a:t>TestData</a:t>
              </a:r>
              <a:r>
                <a:rPr lang="en-GB" dirty="0">
                  <a:solidFill>
                    <a:srgbClr val="FF0000"/>
                  </a:solidFill>
                </a:rPr>
                <a:t>=77 </a:t>
              </a:r>
              <a:r>
                <a:rPr kumimoji="0" lang="en-US" altLang="LID4096" sz="18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 Unicode MS"/>
                </a:rPr>
                <a:t>feature and 16136 observations</a:t>
              </a:r>
              <a:r>
                <a:rPr lang="en-GB" b="1" dirty="0"/>
                <a:t>)</a:t>
              </a:r>
              <a:br>
                <a:rPr lang="en-GB" dirty="0"/>
              </a:br>
              <a:endParaRPr lang="en-GB" dirty="0"/>
            </a:p>
            <a:p>
              <a:r>
                <a:rPr lang="en-GB" b="1" dirty="0"/>
                <a:t>Identify target</a:t>
              </a:r>
              <a:br>
                <a:rPr lang="en-GB" dirty="0"/>
              </a:br>
              <a:endParaRPr lang="en-GB" dirty="0"/>
            </a:p>
            <a:p>
              <a:r>
                <a:rPr lang="en-GB" b="1" dirty="0"/>
                <a:t>Remove target-derived variables</a:t>
              </a:r>
              <a:br>
                <a:rPr lang="en-GB" dirty="0"/>
              </a:br>
              <a:endParaRPr lang="en-GB" dirty="0"/>
            </a:p>
            <a:p>
              <a:r>
                <a:rPr lang="en-GB" b="1" dirty="0"/>
                <a:t>Remove ID/date variables</a:t>
              </a:r>
            </a:p>
            <a:p>
              <a:br>
                <a:rPr lang="en-GB" dirty="0"/>
              </a:br>
              <a:endParaRPr lang="en-GB" dirty="0"/>
            </a:p>
            <a:p>
              <a:r>
                <a:rPr lang="en-GB" b="1" dirty="0"/>
                <a:t>Handle missing values</a:t>
              </a:r>
              <a:br>
                <a:rPr lang="en-GB" dirty="0"/>
              </a:br>
              <a:r>
                <a:rPr lang="en-GB" dirty="0"/>
                <a:t>    </a:t>
              </a:r>
            </a:p>
            <a:p>
              <a:endParaRPr lang="en-GB" b="1" dirty="0"/>
            </a:p>
            <a:p>
              <a:r>
                <a:rPr lang="en-GB" b="1" dirty="0"/>
                <a:t>Feature Engineering Highly correlated feature pairs </a:t>
              </a:r>
            </a:p>
            <a:p>
              <a:r>
                <a:rPr lang="en-GB" b="1" dirty="0"/>
                <a:t>(|correlation| &gt;= 0.95): (one feature of the pair has been removed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>
                  <a:solidFill>
                    <a:srgbClr val="FF0000"/>
                  </a:solidFill>
                </a:rPr>
                <a:t>54 predictors (features)</a:t>
              </a:r>
              <a:endParaRPr lang="LID4096" dirty="0">
                <a:solidFill>
                  <a:srgbClr val="FF0000"/>
                </a:solidFill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790BBF90-3113-45DD-8DFA-625169DA1F3C}"/>
                </a:ext>
              </a:extLst>
            </p:cNvPr>
            <p:cNvSpPr/>
            <p:nvPr/>
          </p:nvSpPr>
          <p:spPr>
            <a:xfrm>
              <a:off x="825619" y="1829650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9C5B56F3-6B96-43F7-B6DD-A1CAF4508878}"/>
                </a:ext>
              </a:extLst>
            </p:cNvPr>
            <p:cNvSpPr/>
            <p:nvPr/>
          </p:nvSpPr>
          <p:spPr>
            <a:xfrm>
              <a:off x="802546" y="3614901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A52D26FB-AD1D-4CDF-9F16-8A0E1703D1B7}"/>
                </a:ext>
              </a:extLst>
            </p:cNvPr>
            <p:cNvSpPr/>
            <p:nvPr/>
          </p:nvSpPr>
          <p:spPr>
            <a:xfrm>
              <a:off x="825620" y="2460326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D7F45456-24D4-47C9-B23F-CE47F068BF7A}"/>
                </a:ext>
              </a:extLst>
            </p:cNvPr>
            <p:cNvSpPr/>
            <p:nvPr/>
          </p:nvSpPr>
          <p:spPr>
            <a:xfrm>
              <a:off x="836277" y="2941736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04E7104D-1F83-4803-BF8E-B0E34083B937}"/>
                </a:ext>
              </a:extLst>
            </p:cNvPr>
            <p:cNvSpPr/>
            <p:nvPr/>
          </p:nvSpPr>
          <p:spPr>
            <a:xfrm>
              <a:off x="788327" y="5795821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2699E840-7E1E-4E6B-949C-CD945B2DCA6F}"/>
                </a:ext>
              </a:extLst>
            </p:cNvPr>
            <p:cNvSpPr/>
            <p:nvPr/>
          </p:nvSpPr>
          <p:spPr>
            <a:xfrm>
              <a:off x="788327" y="4425889"/>
              <a:ext cx="204187" cy="22844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88850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8C0B-5FD5-4969-89AF-B23E445C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3351" y="6492875"/>
            <a:ext cx="2743200" cy="365125"/>
          </a:xfrm>
        </p:spPr>
        <p:txBody>
          <a:bodyPr/>
          <a:lstStyle/>
          <a:p>
            <a:fld id="{394756C6-BAB4-4B36-983A-D55E4300CBE1}" type="datetime1">
              <a:rPr lang="LID4096" smtClean="0"/>
              <a:t>09/14/2026</a:t>
            </a:fld>
            <a:endParaRPr lang="LID4096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FC0CE-9055-4F69-A08B-2622B25C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449" y="6492874"/>
            <a:ext cx="351090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4</a:t>
            </a:fld>
            <a:endParaRPr lang="LID4096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89B8F-349D-47D4-94DD-B5BD8146B5C8}"/>
              </a:ext>
            </a:extLst>
          </p:cNvPr>
          <p:cNvSpPr txBox="1"/>
          <p:nvPr/>
        </p:nvSpPr>
        <p:spPr>
          <a:xfrm>
            <a:off x="496539" y="538269"/>
            <a:ext cx="2095741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EDA(1/1)</a:t>
            </a:r>
            <a:endParaRPr lang="LID4096" sz="24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FA40739-BC77-4F02-8FFF-F269BF21B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475" y="221942"/>
            <a:ext cx="6330389" cy="60818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EC6D2F-B805-4C30-80AB-12A8DA277A1F}"/>
              </a:ext>
            </a:extLst>
          </p:cNvPr>
          <p:cNvSpPr txBox="1"/>
          <p:nvPr/>
        </p:nvSpPr>
        <p:spPr>
          <a:xfrm>
            <a:off x="706885" y="3436089"/>
            <a:ext cx="3770790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Scatterplot Matrix: </a:t>
            </a:r>
            <a:r>
              <a:rPr lang="en-GB" sz="24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show the distribution of a single variable</a:t>
            </a:r>
            <a:endParaRPr lang="en-US" sz="24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77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8C0B-5FD5-4969-89AF-B23E445C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3351" y="6492875"/>
            <a:ext cx="2743200" cy="365125"/>
          </a:xfrm>
        </p:spPr>
        <p:txBody>
          <a:bodyPr/>
          <a:lstStyle/>
          <a:p>
            <a:fld id="{394756C6-BAB4-4B36-983A-D55E4300CBE1}" type="datetime1">
              <a:rPr lang="LID4096" smtClean="0"/>
              <a:t>09/14/2026</a:t>
            </a:fld>
            <a:endParaRPr lang="LID4096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FC0CE-9055-4F69-A08B-2622B25C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449" y="6492874"/>
            <a:ext cx="351090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5</a:t>
            </a:fld>
            <a:endParaRPr lang="LID4096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89B8F-349D-47D4-94DD-B5BD8146B5C8}"/>
              </a:ext>
            </a:extLst>
          </p:cNvPr>
          <p:cNvSpPr txBox="1"/>
          <p:nvPr/>
        </p:nvSpPr>
        <p:spPr>
          <a:xfrm>
            <a:off x="496539" y="538269"/>
            <a:ext cx="2095741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EDA(1/2)</a:t>
            </a:r>
            <a:endParaRPr lang="LID4096" sz="24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E425794-EFB2-45B5-96DC-35A9BC6D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243" y="380598"/>
            <a:ext cx="6029995" cy="541981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54340A5-2F42-4718-A4E5-A96A9B16A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94" y="1354922"/>
            <a:ext cx="5546756" cy="485608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CFF20F4-171E-4973-BC3B-D6097D67434D}"/>
              </a:ext>
            </a:extLst>
          </p:cNvPr>
          <p:cNvSpPr txBox="1"/>
          <p:nvPr/>
        </p:nvSpPr>
        <p:spPr>
          <a:xfrm>
            <a:off x="2388962" y="5353263"/>
            <a:ext cx="3365281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Features (10) distribution frequency by target</a:t>
            </a:r>
            <a:endParaRPr lang="LID4096" sz="16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D7D259-6AD4-47B6-A6DA-DB88F6C4F8C9}"/>
              </a:ext>
            </a:extLst>
          </p:cNvPr>
          <p:cNvSpPr txBox="1"/>
          <p:nvPr/>
        </p:nvSpPr>
        <p:spPr>
          <a:xfrm>
            <a:off x="7687615" y="5872454"/>
            <a:ext cx="3089876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Multicollinearity of the features</a:t>
            </a:r>
            <a:endParaRPr lang="LID4096" sz="16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8C0B-5FD5-4969-89AF-B23E445C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3351" y="6492875"/>
            <a:ext cx="2743200" cy="365125"/>
          </a:xfrm>
        </p:spPr>
        <p:txBody>
          <a:bodyPr/>
          <a:lstStyle/>
          <a:p>
            <a:fld id="{394756C6-BAB4-4B36-983A-D55E4300CBE1}" type="datetime1">
              <a:rPr lang="LID4096" smtClean="0"/>
              <a:t>09/14/2026</a:t>
            </a:fld>
            <a:endParaRPr lang="LID4096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FC0CE-9055-4F69-A08B-2622B25C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449" y="6492874"/>
            <a:ext cx="351090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6</a:t>
            </a:fld>
            <a:endParaRPr lang="LID4096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89B8F-349D-47D4-94DD-B5BD8146B5C8}"/>
              </a:ext>
            </a:extLst>
          </p:cNvPr>
          <p:cNvSpPr txBox="1"/>
          <p:nvPr/>
        </p:nvSpPr>
        <p:spPr>
          <a:xfrm>
            <a:off x="496538" y="538269"/>
            <a:ext cx="547813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i="0" dirty="0">
                <a:solidFill>
                  <a:schemeClr val="bg1"/>
                </a:solidFill>
                <a:effectLst/>
                <a:latin typeface="Tw Cen MT (Body)"/>
              </a:rPr>
              <a:t>Key Insights:</a:t>
            </a:r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w Cen MT (Body)"/>
                <a:cs typeface="Arial" panose="020B0604020202020204" pitchFamily="34" charset="0"/>
              </a:rPr>
              <a:t>Prediction(1/1)</a:t>
            </a:r>
            <a:endParaRPr lang="LID4096" sz="2400" b="1" dirty="0">
              <a:solidFill>
                <a:schemeClr val="bg1"/>
              </a:solidFill>
              <a:latin typeface="Tw Cen MT (Body)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D0CB5-ED4E-4B48-B47B-2C562FF89CE5}"/>
              </a:ext>
            </a:extLst>
          </p:cNvPr>
          <p:cNvSpPr txBox="1"/>
          <p:nvPr/>
        </p:nvSpPr>
        <p:spPr>
          <a:xfrm>
            <a:off x="250794" y="5616373"/>
            <a:ext cx="4205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Random Forest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b="1" dirty="0">
                <a:solidFill>
                  <a:srgbClr val="FF0000"/>
                </a:solidFill>
              </a:rPr>
              <a:t>K-Nearest </a:t>
            </a:r>
            <a:r>
              <a:rPr lang="en-GB" b="1" dirty="0" err="1">
                <a:solidFill>
                  <a:srgbClr val="FF0000"/>
                </a:solidFill>
              </a:rPr>
              <a:t>Neighbors</a:t>
            </a:r>
            <a:r>
              <a:rPr lang="en-GB" b="1" dirty="0">
                <a:solidFill>
                  <a:srgbClr val="FF0000"/>
                </a:solidFill>
              </a:rPr>
              <a:t> (KNN)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b="1" dirty="0">
                <a:solidFill>
                  <a:srgbClr val="FF0000"/>
                </a:solidFill>
              </a:rPr>
              <a:t>Linear Regression</a:t>
            </a: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BFF0CD-5B37-4979-9005-9BD73392B967}"/>
              </a:ext>
            </a:extLst>
          </p:cNvPr>
          <p:cNvGrpSpPr/>
          <p:nvPr/>
        </p:nvGrpSpPr>
        <p:grpSpPr>
          <a:xfrm>
            <a:off x="410592" y="1138886"/>
            <a:ext cx="3788546" cy="4247317"/>
            <a:chOff x="410592" y="1138886"/>
            <a:chExt cx="3788546" cy="424731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232982-7875-4DB2-B848-AF4E569D81DD}"/>
                </a:ext>
              </a:extLst>
            </p:cNvPr>
            <p:cNvSpPr txBox="1"/>
            <p:nvPr/>
          </p:nvSpPr>
          <p:spPr>
            <a:xfrm>
              <a:off x="410592" y="1138886"/>
              <a:ext cx="3673136" cy="4247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Engineering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Train / Validation Split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Preprocessing</a:t>
              </a:r>
              <a:r>
                <a:rPr lang="en-US" dirty="0"/>
                <a:t>/build the pipelines</a:t>
              </a:r>
              <a:endParaRPr lang="LID4096" dirty="0"/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Feature Selection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Model Training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Hyperparameter / Feature Selection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Validation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Model Comparison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7D8045D-627A-4981-905F-48ED4389F2BB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38" y="1138886"/>
              <a:ext cx="0" cy="4247317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E630271-7E61-4676-A10F-1C443AF8D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447867"/>
              </p:ext>
            </p:extLst>
          </p:nvPr>
        </p:nvGraphicFramePr>
        <p:xfrm>
          <a:off x="5060271" y="1222583"/>
          <a:ext cx="6144827" cy="1737360"/>
        </p:xfrm>
        <a:graphic>
          <a:graphicData uri="http://schemas.openxmlformats.org/drawingml/2006/table">
            <a:tbl>
              <a:tblPr/>
              <a:tblGrid>
                <a:gridCol w="1621805">
                  <a:extLst>
                    <a:ext uri="{9D8B030D-6E8A-4147-A177-3AD203B41FA5}">
                      <a16:colId xmlns:a16="http://schemas.microsoft.com/office/drawing/2014/main" val="843323766"/>
                    </a:ext>
                  </a:extLst>
                </a:gridCol>
                <a:gridCol w="1507674">
                  <a:extLst>
                    <a:ext uri="{9D8B030D-6E8A-4147-A177-3AD203B41FA5}">
                      <a16:colId xmlns:a16="http://schemas.microsoft.com/office/drawing/2014/main" val="2571568318"/>
                    </a:ext>
                  </a:extLst>
                </a:gridCol>
                <a:gridCol w="1507674">
                  <a:extLst>
                    <a:ext uri="{9D8B030D-6E8A-4147-A177-3AD203B41FA5}">
                      <a16:colId xmlns:a16="http://schemas.microsoft.com/office/drawing/2014/main" val="3497082275"/>
                    </a:ext>
                  </a:extLst>
                </a:gridCol>
                <a:gridCol w="1507674">
                  <a:extLst>
                    <a:ext uri="{9D8B030D-6E8A-4147-A177-3AD203B41FA5}">
                      <a16:colId xmlns:a16="http://schemas.microsoft.com/office/drawing/2014/main" val="1524243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 dirty="0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738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rgbClr val="FF0000"/>
                          </a:solidFill>
                        </a:rPr>
                        <a:t>Random Forest</a:t>
                      </a:r>
                      <a:endParaRPr lang="en-GB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>
                          <a:solidFill>
                            <a:srgbClr val="FF0000"/>
                          </a:solidFill>
                        </a:rPr>
                        <a:t>29.482</a:t>
                      </a:r>
                      <a:endParaRPr lang="en-GH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 dirty="0">
                          <a:solidFill>
                            <a:srgbClr val="FF0000"/>
                          </a:solidFill>
                        </a:rPr>
                        <a:t>20.491</a:t>
                      </a:r>
                      <a:endParaRPr lang="en-GH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 dirty="0">
                          <a:solidFill>
                            <a:srgbClr val="FF0000"/>
                          </a:solidFill>
                        </a:rPr>
                        <a:t>0.596</a:t>
                      </a:r>
                      <a:endParaRPr lang="en-GH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976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33.628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23.566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0.474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245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35.257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25.961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0.422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266638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38CCCBB3-9737-441B-8E61-8E313BE2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650" y="3182592"/>
            <a:ext cx="6613942" cy="327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4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1967CE-47D7-4857-AD86-1F8A3F609E5F}"/>
              </a:ext>
            </a:extLst>
          </p:cNvPr>
          <p:cNvSpPr txBox="1"/>
          <p:nvPr/>
        </p:nvSpPr>
        <p:spPr>
          <a:xfrm>
            <a:off x="1086775" y="369145"/>
            <a:ext cx="8360546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i="0" dirty="0">
                <a:solidFill>
                  <a:schemeClr val="bg1"/>
                </a:solidFill>
                <a:effectLst/>
                <a:latin typeface="Tw Cen MT (Body)"/>
              </a:rPr>
              <a:t>Key Insights:</a:t>
            </a:r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 Feature Selection &amp; </a:t>
            </a:r>
            <a:r>
              <a:rPr lang="en-GB" sz="2400" b="1" dirty="0">
                <a:solidFill>
                  <a:schemeClr val="bg1"/>
                </a:solidFill>
                <a:latin typeface="Tw Cen MT (Body)"/>
              </a:rPr>
              <a:t>Permutation importance </a:t>
            </a:r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(1/2)</a:t>
            </a:r>
            <a:endParaRPr lang="LID4096" sz="2400" b="1" dirty="0">
              <a:solidFill>
                <a:schemeClr val="bg1"/>
              </a:solidFill>
              <a:latin typeface="Tw Cen MT (Body)"/>
            </a:endParaRP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D1FB8E2C-5760-46F0-8E4E-9BB9F777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3351" y="6506484"/>
            <a:ext cx="2743200" cy="365125"/>
          </a:xfrm>
        </p:spPr>
        <p:txBody>
          <a:bodyPr/>
          <a:lstStyle/>
          <a:p>
            <a:fld id="{BF34A7A4-B69A-4274-B79E-3BFB4E47A14C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4C120769-4C5F-4750-A39C-97D900BB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449" y="6506484"/>
            <a:ext cx="442697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7</a:t>
            </a:fld>
            <a:endParaRPr lang="LID4096" sz="18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12CA49-4C30-447D-BBDF-99CCFBBA1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131251"/>
              </p:ext>
            </p:extLst>
          </p:nvPr>
        </p:nvGraphicFramePr>
        <p:xfrm>
          <a:off x="3888421" y="1352027"/>
          <a:ext cx="7713954" cy="1737360"/>
        </p:xfrm>
        <a:graphic>
          <a:graphicData uri="http://schemas.openxmlformats.org/drawingml/2006/table">
            <a:tbl>
              <a:tblPr/>
              <a:tblGrid>
                <a:gridCol w="2571318">
                  <a:extLst>
                    <a:ext uri="{9D8B030D-6E8A-4147-A177-3AD203B41FA5}">
                      <a16:colId xmlns:a16="http://schemas.microsoft.com/office/drawing/2014/main" val="3504454327"/>
                    </a:ext>
                  </a:extLst>
                </a:gridCol>
                <a:gridCol w="2571318">
                  <a:extLst>
                    <a:ext uri="{9D8B030D-6E8A-4147-A177-3AD203B41FA5}">
                      <a16:colId xmlns:a16="http://schemas.microsoft.com/office/drawing/2014/main" val="1749772284"/>
                    </a:ext>
                  </a:extLst>
                </a:gridCol>
                <a:gridCol w="2571318">
                  <a:extLst>
                    <a:ext uri="{9D8B030D-6E8A-4147-A177-3AD203B41FA5}">
                      <a16:colId xmlns:a16="http://schemas.microsoft.com/office/drawing/2014/main" val="665296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Model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Best CV RMSE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Optimal number of features (K)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86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Random Forest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/>
                        <a:t>31.970</a:t>
                      </a:r>
                      <a:endParaRPr lang="en-GH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/>
                        <a:t>40</a:t>
                      </a:r>
                      <a:endParaRPr lang="en-GH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58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KNN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34.630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84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36.809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54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8896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C071A2-6F04-464D-B16B-7C14B136E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404203"/>
              </p:ext>
            </p:extLst>
          </p:nvPr>
        </p:nvGraphicFramePr>
        <p:xfrm>
          <a:off x="1086775" y="3670157"/>
          <a:ext cx="10515600" cy="2011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125575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27728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393231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5228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Model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 dirty="0"/>
                        <a:t>Validation RMSE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Validation MAE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Validation R²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87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Feature-selected Random Forest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/>
                        <a:t>29.732</a:t>
                      </a:r>
                      <a:endParaRPr lang="en-GH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/>
                        <a:t>20.657</a:t>
                      </a:r>
                      <a:endParaRPr lang="en-GH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 dirty="0">
                          <a:solidFill>
                            <a:srgbClr val="7030A0"/>
                          </a:solidFill>
                        </a:rPr>
                        <a:t>0.589</a:t>
                      </a:r>
                      <a:endParaRPr lang="en-GH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3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Feature-selected KNN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32.334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22.452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b="1" dirty="0">
                          <a:solidFill>
                            <a:srgbClr val="FF0000"/>
                          </a:solidFill>
                        </a:rPr>
                        <a:t>0.514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04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Feature-selected 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35.257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/>
                        <a:t>25.961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H" dirty="0"/>
                        <a:t>0.422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95913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095A27BC-CD1B-461F-A69B-CC3FE917467F}"/>
              </a:ext>
            </a:extLst>
          </p:cNvPr>
          <p:cNvGrpSpPr/>
          <p:nvPr/>
        </p:nvGrpSpPr>
        <p:grpSpPr>
          <a:xfrm>
            <a:off x="1086774" y="1397675"/>
            <a:ext cx="2513675" cy="2031325"/>
            <a:chOff x="1086775" y="1397675"/>
            <a:chExt cx="2251228" cy="20313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834136-528E-437C-814B-CDBF862125CE}"/>
                </a:ext>
              </a:extLst>
            </p:cNvPr>
            <p:cNvSpPr txBox="1"/>
            <p:nvPr/>
          </p:nvSpPr>
          <p:spPr>
            <a:xfrm>
              <a:off x="1086775" y="1397675"/>
              <a:ext cx="2251228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54</a:t>
              </a:r>
              <a:r>
                <a:rPr lang="LID4096" dirty="0"/>
                <a:t> predictors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SelectKBest + GridSearchCV</a:t>
              </a:r>
            </a:p>
            <a:p>
              <a:r>
                <a:rPr lang="LID4096" dirty="0"/>
                <a:t>      </a:t>
              </a:r>
            </a:p>
            <a:p>
              <a:r>
                <a:rPr lang="LID4096" dirty="0"/>
                <a:t>Optimal feature subset</a:t>
              </a: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C432127C-EF51-419B-A17F-93F147F34F4A}"/>
                </a:ext>
              </a:extLst>
            </p:cNvPr>
            <p:cNvSpPr/>
            <p:nvPr/>
          </p:nvSpPr>
          <p:spPr>
            <a:xfrm>
              <a:off x="1544715" y="1748901"/>
              <a:ext cx="452761" cy="204186"/>
            </a:xfrm>
            <a:prstGeom prst="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CD298DD6-3B26-49E9-986C-E4BF7F1D0440}"/>
                </a:ext>
              </a:extLst>
            </p:cNvPr>
            <p:cNvSpPr/>
            <p:nvPr/>
          </p:nvSpPr>
          <p:spPr>
            <a:xfrm>
              <a:off x="1544715" y="2574524"/>
              <a:ext cx="452761" cy="204186"/>
            </a:xfrm>
            <a:prstGeom prst="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385935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1967CE-47D7-4857-AD86-1F8A3F609E5F}"/>
              </a:ext>
            </a:extLst>
          </p:cNvPr>
          <p:cNvSpPr txBox="1"/>
          <p:nvPr/>
        </p:nvSpPr>
        <p:spPr>
          <a:xfrm>
            <a:off x="145449" y="208781"/>
            <a:ext cx="5731568" cy="8309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i="0" dirty="0">
                <a:solidFill>
                  <a:schemeClr val="bg1"/>
                </a:solidFill>
                <a:effectLst/>
                <a:latin typeface="Tw Cen MT (Body)"/>
              </a:rPr>
              <a:t>Key Insights:</a:t>
            </a:r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Tw Cen MT (Body)"/>
              </a:rPr>
              <a:t>Permutation importance &amp; Residual analysis  </a:t>
            </a:r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(1/3)</a:t>
            </a:r>
            <a:endParaRPr lang="LID4096" sz="2400" b="1" dirty="0">
              <a:solidFill>
                <a:schemeClr val="bg1"/>
              </a:solidFill>
              <a:latin typeface="Tw Cen MT (Body)"/>
            </a:endParaRP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D1FB8E2C-5760-46F0-8E4E-9BB9F777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03351" y="6506484"/>
            <a:ext cx="2743200" cy="365125"/>
          </a:xfrm>
        </p:spPr>
        <p:txBody>
          <a:bodyPr/>
          <a:lstStyle/>
          <a:p>
            <a:fld id="{BF34A7A4-B69A-4274-B79E-3BFB4E47A14C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4C120769-4C5F-4750-A39C-97D900BB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449" y="6506484"/>
            <a:ext cx="442697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8</a:t>
            </a:fld>
            <a:endParaRPr lang="LID4096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EB719-484B-4A7F-9B17-D5AE8DE6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261"/>
            <a:ext cx="5644427" cy="59147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F6E734-2C0B-41D6-A39A-C05CC54F3B92}"/>
              </a:ext>
            </a:extLst>
          </p:cNvPr>
          <p:cNvSpPr txBox="1"/>
          <p:nvPr/>
        </p:nvSpPr>
        <p:spPr>
          <a:xfrm>
            <a:off x="7214363" y="6076676"/>
            <a:ext cx="417797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Tw Cen MT (Body)"/>
              </a:rPr>
              <a:t>top 20 important variables for each model</a:t>
            </a:r>
            <a:endParaRPr lang="LID4096" sz="1600" b="1" dirty="0">
              <a:latin typeface="Tw Cen MT (Body)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E53709-01C6-4794-B4CE-A94DD071E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35" y="1274669"/>
            <a:ext cx="5415314" cy="45046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51DA9C-2D3D-481F-84CE-43436850DFFF}"/>
              </a:ext>
            </a:extLst>
          </p:cNvPr>
          <p:cNvSpPr txBox="1"/>
          <p:nvPr/>
        </p:nvSpPr>
        <p:spPr>
          <a:xfrm>
            <a:off x="1172523" y="5907399"/>
            <a:ext cx="302344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Tw Cen MT (Body)"/>
              </a:rPr>
              <a:t>Residual analysis for the models</a:t>
            </a:r>
            <a:endParaRPr lang="LID4096" sz="1600" b="1" dirty="0"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4791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1A9C-972F-4CA2-9ADE-47AF8552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8132081-7698-4D9F-9F70-6FD8CFA17ED9}" type="datetime1">
              <a:rPr lang="LID4096" b="1" smtClean="0"/>
              <a:t>09/14/2026</a:t>
            </a:fld>
            <a:endParaRPr lang="LID4096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8ECAD-4141-4713-990B-0DD70ACC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4"/>
            <a:ext cx="764215" cy="365125"/>
          </a:xfrm>
        </p:spPr>
        <p:txBody>
          <a:bodyPr/>
          <a:lstStyle/>
          <a:p>
            <a:fld id="{DE873B33-7066-4CC4-AC23-4AD056EB015C}" type="slidenum">
              <a:rPr lang="LID4096" sz="1800" b="1" smtClean="0"/>
              <a:t>9</a:t>
            </a:fld>
            <a:endParaRPr lang="LID4096" sz="18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BAD38-11F2-463E-ADF0-5B53E4D72868}"/>
              </a:ext>
            </a:extLst>
          </p:cNvPr>
          <p:cNvSpPr txBox="1"/>
          <p:nvPr/>
        </p:nvSpPr>
        <p:spPr>
          <a:xfrm>
            <a:off x="1003176" y="985422"/>
            <a:ext cx="3302494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w Cen MT (Body)"/>
              </a:rPr>
              <a:t>Conclusions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5D38E-0339-4C61-A552-4BAE356B14F8}"/>
              </a:ext>
            </a:extLst>
          </p:cNvPr>
          <p:cNvSpPr txBox="1"/>
          <p:nvPr/>
        </p:nvSpPr>
        <p:spPr>
          <a:xfrm>
            <a:off x="923276" y="1769200"/>
            <a:ext cx="97743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Random Forest performed best</a:t>
            </a:r>
            <a:endParaRPr lang="en-GB" dirty="0"/>
          </a:p>
          <a:p>
            <a:r>
              <a:rPr lang="en-GB" dirty="0"/>
              <a:t>R² ≈ </a:t>
            </a:r>
            <a:r>
              <a:rPr lang="en-GB" b="1" dirty="0"/>
              <a:t>0.60</a:t>
            </a:r>
            <a:r>
              <a:rPr lang="en-GB" dirty="0"/>
              <a:t> on the validation data.</a:t>
            </a:r>
          </a:p>
          <a:p>
            <a:endParaRPr lang="en-GB" dirty="0"/>
          </a:p>
          <a:p>
            <a:r>
              <a:rPr lang="en-GB" b="1" dirty="0"/>
              <a:t>2. Environmental predictors contain substantial information about PM2.5</a:t>
            </a:r>
            <a:endParaRPr lang="en-GB" dirty="0"/>
          </a:p>
          <a:p>
            <a:r>
              <a:rPr lang="en-GB" dirty="0"/>
              <a:t>Weather and atmospheric composition variables provide useful predictive signals.</a:t>
            </a:r>
          </a:p>
          <a:p>
            <a:endParaRPr lang="en-GB" dirty="0"/>
          </a:p>
          <a:p>
            <a:r>
              <a:rPr lang="en-GB" b="1" dirty="0"/>
              <a:t>3. Feature selection reduced dimensionality</a:t>
            </a:r>
            <a:endParaRPr lang="en-GB" dirty="0"/>
          </a:p>
          <a:p>
            <a:r>
              <a:rPr lang="en-GB" dirty="0"/>
              <a:t>54 predictors:  </a:t>
            </a:r>
            <a:r>
              <a:rPr lang="en-GB" b="1" dirty="0"/>
              <a:t>40 selected predictors for Random Forest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4. Feature selection did not increase predictive accuracy</a:t>
            </a:r>
            <a:endParaRPr lang="en-GB" dirty="0"/>
          </a:p>
          <a:p>
            <a:r>
              <a:rPr lang="en-GB" dirty="0"/>
              <a:t>Performance remained very similar, suggesting that the additional variables contained useful complementary information.</a:t>
            </a:r>
          </a:p>
          <a:p>
            <a:endParaRPr lang="en-GB" dirty="0"/>
          </a:p>
          <a:p>
            <a:r>
              <a:rPr lang="en-GB" b="1" dirty="0"/>
              <a:t>5. Final objective</a:t>
            </a:r>
            <a:endParaRPr lang="en-GB" dirty="0"/>
          </a:p>
          <a:p>
            <a:r>
              <a:rPr lang="en-GB" dirty="0"/>
              <a:t>The selected </a:t>
            </a:r>
            <a:r>
              <a:rPr lang="en-GB" b="1" dirty="0">
                <a:solidFill>
                  <a:srgbClr val="FF0000"/>
                </a:solidFill>
              </a:rPr>
              <a:t>Random Forest </a:t>
            </a:r>
            <a:r>
              <a:rPr lang="en-GB" dirty="0"/>
              <a:t>was used to generate PM2.5 predictions for the unseen </a:t>
            </a:r>
            <a:r>
              <a:rPr lang="en-GB" b="1" dirty="0"/>
              <a:t>test observations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14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enguin Holds A Sign With An Inscription THANK YOU. Vector Illustration Royalty Free SVG, Cliparts, Vectors, and Stock Illustration. Image 80565395.">
            <a:extLst>
              <a:ext uri="{FF2B5EF4-FFF2-40B4-BE49-F238E27FC236}">
                <a16:creationId xmlns:a16="http://schemas.microsoft.com/office/drawing/2014/main" id="{99256D59-8F0B-44DB-AD85-A86531191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96" y="1257567"/>
            <a:ext cx="3443148" cy="434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artoon-like Penguin Presenting a White Sign with Thank You Written in Bold. Stock Photo - Image of audience, marketing: 428586730">
            <a:extLst>
              <a:ext uri="{FF2B5EF4-FFF2-40B4-BE49-F238E27FC236}">
                <a16:creationId xmlns:a16="http://schemas.microsoft.com/office/drawing/2014/main" id="{8EE907BF-C801-450E-B893-F15A4E654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74414">
            <a:off x="8854093" y="361050"/>
            <a:ext cx="2285210" cy="298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reeting Card Penguin Saying Thank You Stock Vector (Royalty Free) 1723749487 | Shutterstock">
            <a:extLst>
              <a:ext uri="{FF2B5EF4-FFF2-40B4-BE49-F238E27FC236}">
                <a16:creationId xmlns:a16="http://schemas.microsoft.com/office/drawing/2014/main" id="{6847C9D9-C196-46CF-8C74-9BD0460D6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7"/>
          <a:stretch/>
        </p:blipFill>
        <p:spPr bwMode="auto">
          <a:xfrm rot="1106804">
            <a:off x="9520712" y="4199620"/>
            <a:ext cx="2146507" cy="216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ute Penguin Sticker - Cute Penguin Thx - Discover &amp; Share GIFs">
            <a:extLst>
              <a:ext uri="{FF2B5EF4-FFF2-40B4-BE49-F238E27FC236}">
                <a16:creationId xmlns:a16="http://schemas.microsoft.com/office/drawing/2014/main" id="{8ACEC9F2-5B2A-41E3-A212-419D0749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54008">
            <a:off x="1171249" y="3682522"/>
            <a:ext cx="2651693" cy="265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Penguin Thank You">
            <a:extLst>
              <a:ext uri="{FF2B5EF4-FFF2-40B4-BE49-F238E27FC236}">
                <a16:creationId xmlns:a16="http://schemas.microsoft.com/office/drawing/2014/main" id="{00070F2C-93FD-444F-897C-7AC8B1F14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35487">
            <a:off x="836546" y="493925"/>
            <a:ext cx="2819076" cy="281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80F79-9212-4DB4-900B-8C7BFE83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B051F-B844-411E-BC51-E79342045B7F}" type="datetime1">
              <a:rPr lang="LID4096" smtClean="0"/>
              <a:t>09/14/2026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DF947-C2AC-489D-A7A5-42335BC8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3B33-7066-4CC4-AC23-4AD056EB015C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852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3282</TotalTime>
  <Words>575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Tw Cen MT (Body)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Kueshi Sémanou DAHAN</dc:creator>
  <cp:lastModifiedBy>Kueshi Sémanou DAHAN</cp:lastModifiedBy>
  <cp:revision>129</cp:revision>
  <dcterms:created xsi:type="dcterms:W3CDTF">2026-08-13T08:50:49Z</dcterms:created>
  <dcterms:modified xsi:type="dcterms:W3CDTF">2026-09-14T09:11:06Z</dcterms:modified>
</cp:coreProperties>
</file>