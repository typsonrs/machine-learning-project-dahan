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6" r:id="rId1"/>
  </p:sldMasterIdLst>
  <p:notesMasterIdLst>
    <p:notesMasterId r:id="rId11"/>
  </p:notesMasterIdLst>
  <p:sldIdLst>
    <p:sldId id="256" r:id="rId2"/>
    <p:sldId id="265" r:id="rId3"/>
    <p:sldId id="260" r:id="rId4"/>
    <p:sldId id="262" r:id="rId5"/>
    <p:sldId id="261" r:id="rId6"/>
    <p:sldId id="264" r:id="rId7"/>
    <p:sldId id="259" r:id="rId8"/>
    <p:sldId id="258" r:id="rId9"/>
    <p:sldId id="263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B12028-12E1-4C45-88DB-9E34EE2E4D2F}" type="datetimeFigureOut">
              <a:rPr lang="LID4096" smtClean="0"/>
              <a:t>08/14/2026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315D64-A4B5-4C92-96D9-46D8FF37C36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99753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4DC0C-E14A-46F8-80AE-1DD5063B55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0BDF92-232E-4FF7-BE5C-08F7596F28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727C62-9187-4553-B0F8-853C385AC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AEA72-C5E9-416A-9B9B-6C31B1E80C81}" type="datetime1">
              <a:rPr lang="LID4096" smtClean="0"/>
              <a:t>08/14/2026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9A150C-20BF-4CA1-8CBB-F26AD81EC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41EF0-0F12-4091-9C11-ED91F7F05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05477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0051F-7BD3-447B-B7DD-2B1624524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49D10-E1D0-4BF1-92F0-5E6E88AFE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5688F-83E5-4DE7-851E-D02C473C7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95664-E9AB-4213-A8C1-B4593E717E04}" type="datetime1">
              <a:rPr lang="LID4096" smtClean="0"/>
              <a:t>08/14/2026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BEB68-2F62-4843-A6BE-942CE60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859BE-8F79-4A50-AFAB-476409C3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00938829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989E7-62D3-4A28-9BC5-25DE51395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0C5B3-D9F9-4231-B05D-70D311D59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276D4-5F71-4A73-B6CE-D370EF9CE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E24B2-D879-4636-863F-16C19AEA1D9F}" type="datetime1">
              <a:rPr lang="LID4096" smtClean="0"/>
              <a:t>08/14/2026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02A34-7F53-4BF8-871A-898D888E8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B0640-CDF5-4885-A784-14777BBD5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2590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59553-F2C5-4778-B392-88788CC6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1265-4D5E-4AC9-B89A-5D00A0EC7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4672D2-1290-4E4F-8F36-811A88291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06C10F-4A71-486A-B8E2-7F58C3664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95664-E9AB-4213-A8C1-B4593E717E04}" type="datetime1">
              <a:rPr lang="LID4096" smtClean="0"/>
              <a:t>08/14/2026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8C9FAC-453D-4650-85B8-133C88C54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6D7007-84F0-4034-B5BD-DE9C0344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61906241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B0EC5-2A7D-4BFA-8271-0971EA181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48F08-145E-44D7-8A91-ADBA8E8BCD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CEF4D5-7A9D-4E10-AC74-08935E0C8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BC19D-0DC6-480E-B034-7E1D26CE99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F7A29E-02BF-4944-9EF4-B6638F165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C4A07B-B8D7-4CA9-AEC5-FC0D363EB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95664-E9AB-4213-A8C1-B4593E717E04}" type="datetime1">
              <a:rPr lang="LID4096" smtClean="0"/>
              <a:t>08/14/2026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32E125-AEB1-43C0-BC30-92B2F4E60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CF27A3-FB43-484B-BC97-B7F2FA7FE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485186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3FD8C-FD16-44E9-AD0A-BFD7AB326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D153A7-F5D9-4A41-94A2-D5E51230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C8AD84-A747-40C6-8719-6DB7B03B96BE}" type="datetime1">
              <a:rPr lang="LID4096" smtClean="0"/>
              <a:t>08/14/2026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4C158-469A-453E-B91E-F17338C0D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06D97E-4C05-4404-9CA4-1BF41EBC6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1357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49A578-A46F-48DA-A49B-7B7F29375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2ECC3-810B-44F3-968C-A2B7161D6260}" type="datetime1">
              <a:rPr lang="LID4096" smtClean="0"/>
              <a:t>08/14/2026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895A97-1676-444A-8D14-369F96638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A7A9C-B80B-44B8-A5E8-46321FE7A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82996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91D1E-0C97-4993-9996-C7E54175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3F228-32A2-4B65-BBE0-A309EECC4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602C4E-193D-4EF1-9D4C-BE7EEA094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7E4802-178D-472F-A025-43D938961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95664-E9AB-4213-A8C1-B4593E717E04}" type="datetime1">
              <a:rPr lang="LID4096" smtClean="0"/>
              <a:t>08/14/2026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FBD000-8DAA-4E98-A588-8BBA0A0DF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217F5-8ED7-4329-98DA-BBA0ABF3E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45086915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8F26B-64C2-4525-87FA-D72A5AEDB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B7C94D-F73A-4CEF-AF10-D31588C169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37155E-F92D-47A3-B263-8AE20AD438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9725B-53A3-4CF6-9DEC-68137C98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B7083-A02D-4552-B45C-5D7DE9F27D3F}" type="datetime1">
              <a:rPr lang="LID4096" smtClean="0"/>
              <a:t>08/14/2026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CDA6A0-805F-44ED-A726-190B632C8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D92074-92D8-4D6C-826D-1BE287A2C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75468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150A4-757B-4783-8A1B-2730F9A08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EA5C60-7006-405E-A428-FB76165CE2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50FA9-0ACA-4037-A9AC-FFCD0474B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95664-E9AB-4213-A8C1-B4593E717E04}" type="datetime1">
              <a:rPr lang="LID4096" smtClean="0"/>
              <a:t>08/14/2026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C6758-CFA4-41B3-8F31-9F695FD04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70896-2FCF-4CA3-A648-3098696CE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3809376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6D97FB-E546-4635-BA66-FFF7986094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5F1267-F6A8-41E2-A890-E5A9E1546C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3ABC0-A670-4761-857F-36454A38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95664-E9AB-4213-A8C1-B4593E717E04}" type="datetime1">
              <a:rPr lang="LID4096" smtClean="0"/>
              <a:t>08/14/2026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AEB7F-A10E-4592-9380-E148407E1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30BF5-2406-4484-825C-D3B167687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189837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DD753C-99B8-4C54-8257-B0EEC3C1A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55FD04-BB26-45B3-935E-23444B185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A5AD6-9462-4645-8E42-1AA56B4D7F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895664-E9AB-4213-A8C1-B4593E717E04}" type="datetime1">
              <a:rPr lang="LID4096" smtClean="0"/>
              <a:t>08/14/2026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2DE79-9B29-438E-A932-716C4A02E5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7A44D-8602-43AF-9BAA-2BA4888CBD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873B33-7066-4CC4-AC23-4AD056EB015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25618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D536B613-5F37-4A05-9204-D37E7011D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296" y="1397687"/>
            <a:ext cx="10884023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The Hidden Housing Portfolio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A Spatial and Temporal Analysis of King County House Sales</a:t>
            </a:r>
            <a:endParaRPr kumimoji="0" lang="LID4096" altLang="LID4096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LID4096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LID4096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LID4096" sz="3200" b="1" dirty="0">
              <a:latin typeface="Tw Cen MT (Body)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EDA Project</a:t>
            </a:r>
            <a:endParaRPr kumimoji="0" lang="LID4096" altLang="LID4096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LID4096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Client</a:t>
            </a:r>
            <a:r>
              <a:rPr kumimoji="0" lang="LID4096" altLang="LID4096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:</a:t>
            </a:r>
            <a:r>
              <a:rPr kumimoji="0" lang="LID4096" altLang="LID4096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Amy Williams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F71868-34E3-418A-AB5C-E93E09A92515}"/>
              </a:ext>
            </a:extLst>
          </p:cNvPr>
          <p:cNvSpPr txBox="1"/>
          <p:nvPr/>
        </p:nvSpPr>
        <p:spPr>
          <a:xfrm>
            <a:off x="88776" y="6534834"/>
            <a:ext cx="59302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Kueshi Sémanou Dahan, contact: dkueshi09@gmail.com</a:t>
            </a:r>
            <a:endParaRPr lang="LID4096" sz="1600" b="1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5AE66B8-BA6A-4BB7-8875-AE8CD43143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05696" y="6492875"/>
            <a:ext cx="2743200" cy="365125"/>
          </a:xfrm>
        </p:spPr>
        <p:txBody>
          <a:bodyPr/>
          <a:lstStyle/>
          <a:p>
            <a:fld id="{E05C0D58-CA5A-4496-855F-8E8EF7386D4C}" type="datetime1">
              <a:rPr lang="LID4096" b="1" smtClean="0"/>
              <a:t>08/14/2026</a:t>
            </a:fld>
            <a:endParaRPr lang="LID4096" b="1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DA1605-AC27-4A23-9502-1F0AF3344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1</a:t>
            </a:fld>
            <a:endParaRPr lang="LID4096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8E6228-722D-479F-AD17-4785C981A374}"/>
              </a:ext>
            </a:extLst>
          </p:cNvPr>
          <p:cNvSpPr/>
          <p:nvPr/>
        </p:nvSpPr>
        <p:spPr>
          <a:xfrm>
            <a:off x="292963" y="301841"/>
            <a:ext cx="11655933" cy="6096468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1707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04AAA7-9022-44CC-95CE-D5592371FF8B}"/>
              </a:ext>
            </a:extLst>
          </p:cNvPr>
          <p:cNvSpPr txBox="1"/>
          <p:nvPr/>
        </p:nvSpPr>
        <p:spPr>
          <a:xfrm>
            <a:off x="602976" y="4262585"/>
            <a:ext cx="1095127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FF0000"/>
                </a:solidFill>
                <a:effectLst/>
                <a:latin typeface="Tw Cen MT (Body)"/>
                <a:cs typeface="Arial" panose="020B0604020202020204" pitchFamily="34" charset="0"/>
              </a:rPr>
              <a:t>H1: </a:t>
            </a:r>
            <a:r>
              <a:rPr lang="en-GB" b="0" dirty="0">
                <a:effectLst/>
                <a:latin typeface="Tw Cen MT (Body)"/>
                <a:cs typeface="Arial" panose="020B0604020202020204" pitchFamily="34" charset="0"/>
              </a:rPr>
              <a:t>Houses in central areas are more likely to belong to the top 10% of property values.</a:t>
            </a:r>
          </a:p>
          <a:p>
            <a:pPr algn="just"/>
            <a:r>
              <a:rPr lang="en-GB" b="1" dirty="0">
                <a:latin typeface="Tw Cen MT (Body)"/>
              </a:rPr>
              <a:t>Test: </a:t>
            </a:r>
            <a:r>
              <a:rPr lang="en-GB" dirty="0">
                <a:latin typeface="Tw Cen MT (Body)"/>
              </a:rPr>
              <a:t>Compare the proportion of top-10% houses in central vs. outskirt areas.</a:t>
            </a:r>
            <a:endParaRPr lang="en-GB" b="0" dirty="0">
              <a:effectLst/>
              <a:latin typeface="Tw Cen MT (Body)"/>
              <a:cs typeface="Arial" panose="020B0604020202020204" pitchFamily="34" charset="0"/>
            </a:endParaRPr>
          </a:p>
          <a:p>
            <a:pPr algn="just"/>
            <a:br>
              <a:rPr lang="en-GB" b="0" dirty="0">
                <a:effectLst/>
                <a:latin typeface="Tw Cen MT (Body)"/>
                <a:cs typeface="Arial" panose="020B0604020202020204" pitchFamily="34" charset="0"/>
              </a:rPr>
            </a:br>
            <a:r>
              <a:rPr lang="en-GB" b="1" dirty="0">
                <a:solidFill>
                  <a:srgbClr val="FF0000"/>
                </a:solidFill>
                <a:effectLst/>
                <a:latin typeface="Tw Cen MT (Body)"/>
                <a:cs typeface="Arial" panose="020B0604020202020204" pitchFamily="34" charset="0"/>
              </a:rPr>
              <a:t>H2: </a:t>
            </a:r>
            <a:r>
              <a:rPr lang="en-GB" b="0" dirty="0">
                <a:effectLst/>
                <a:latin typeface="Tw Cen MT (Body)"/>
                <a:cs typeface="Arial" panose="020B0604020202020204" pitchFamily="34" charset="0"/>
              </a:rPr>
              <a:t>High-value central houses are sold across multiple time periods rather than being concentrated in a single period.</a:t>
            </a:r>
          </a:p>
          <a:p>
            <a:pPr algn="just"/>
            <a:r>
              <a:rPr lang="en-GB" b="1" dirty="0">
                <a:latin typeface="Tw Cen MT (Body)"/>
                <a:cs typeface="Arial" panose="020B0604020202020204" pitchFamily="34" charset="0"/>
              </a:rPr>
              <a:t>Test: </a:t>
            </a:r>
            <a:r>
              <a:rPr lang="en-GB" dirty="0">
                <a:latin typeface="Tw Cen MT (Body)"/>
                <a:cs typeface="Arial" panose="020B0604020202020204" pitchFamily="34" charset="0"/>
              </a:rPr>
              <a:t>Assess s</a:t>
            </a:r>
            <a:r>
              <a:rPr lang="en-GB" dirty="0">
                <a:latin typeface="Tw Cen MT (Body)"/>
              </a:rPr>
              <a:t>ales over time</a:t>
            </a:r>
          </a:p>
          <a:p>
            <a:pPr algn="just"/>
            <a:endParaRPr lang="en-GB" dirty="0">
              <a:latin typeface="Tw Cen MT (Body)"/>
              <a:cs typeface="Arial" panose="020B0604020202020204" pitchFamily="34" charset="0"/>
            </a:endParaRPr>
          </a:p>
          <a:p>
            <a:pPr algn="just"/>
            <a:r>
              <a:rPr lang="en-GB" b="1" dirty="0">
                <a:solidFill>
                  <a:srgbClr val="FF0000"/>
                </a:solidFill>
                <a:effectLst/>
                <a:latin typeface="Tw Cen MT (Body)"/>
                <a:cs typeface="Arial" panose="020B0604020202020204" pitchFamily="34" charset="0"/>
              </a:rPr>
              <a:t>H3: </a:t>
            </a:r>
            <a:r>
              <a:rPr lang="en-GB" b="0" dirty="0">
                <a:effectLst/>
                <a:latin typeface="Tw Cen MT (Body)"/>
                <a:cs typeface="Arial" panose="020B0604020202020204" pitchFamily="34" charset="0"/>
              </a:rPr>
              <a:t>Houses in outskirts areas are more likely to have average sale prices than houses in central areas.</a:t>
            </a:r>
          </a:p>
          <a:p>
            <a:pPr algn="just"/>
            <a:r>
              <a:rPr lang="en-GB" b="1" dirty="0">
                <a:effectLst/>
                <a:latin typeface="Tw Cen MT (Body)"/>
                <a:cs typeface="Arial" panose="020B0604020202020204" pitchFamily="34" charset="0"/>
              </a:rPr>
              <a:t>Test: </a:t>
            </a:r>
            <a:r>
              <a:rPr lang="en-GB" dirty="0">
                <a:latin typeface="Tw Cen MT (Body)"/>
              </a:rPr>
              <a:t>Compare the sale-price distributions of: Central properties and Outskirt properties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21A9C-972F-4CA2-9ADE-47AF855276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B8132081-7698-4D9F-9F70-6FD8CFA17ED9}" type="datetime1">
              <a:rPr lang="LID4096" b="1" smtClean="0"/>
              <a:t>08/14/2026</a:t>
            </a:fld>
            <a:endParaRPr lang="LID4096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88ECAD-4141-4713-990B-0DD70ACC4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6633" y="6508352"/>
            <a:ext cx="295849" cy="365125"/>
          </a:xfrm>
        </p:spPr>
        <p:txBody>
          <a:bodyPr/>
          <a:lstStyle/>
          <a:p>
            <a:fld id="{DE873B33-7066-4CC4-AC23-4AD056EB015C}" type="slidenum">
              <a:rPr lang="LID4096" sz="1800" b="1" smtClean="0"/>
              <a:t>2</a:t>
            </a:fld>
            <a:endParaRPr lang="LID4096" sz="18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6761C1-0C72-4109-AA9F-04351D3154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976" y="2004398"/>
            <a:ext cx="977502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LID4096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What the client want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 to achieve?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LID4096" dirty="0">
                <a:latin typeface="Tw Cen MT (Body)"/>
              </a:rPr>
              <a:t>D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evelop a diversified house-selling strategy based on: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High-value properties</a:t>
            </a:r>
            <a:r>
              <a:rPr kumimoji="0" lang="en-US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: 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Focus on houses in the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top 10% of sale prices</a:t>
            </a:r>
            <a:r>
              <a:rPr lang="en-US" altLang="LID4096" b="1" dirty="0">
                <a:latin typeface="Tw Cen MT (Body)"/>
              </a:rPr>
              <a:t>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Central locations</a:t>
            </a:r>
            <a:endParaRPr kumimoji="0" lang="en-US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Outskirt properties</a:t>
            </a:r>
            <a:r>
              <a:rPr kumimoji="0" lang="en-US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: 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Properties outside the central area, with a focus on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average-priced houses</a:t>
            </a:r>
            <a:endParaRPr lang="en-US" altLang="LID4096" dirty="0">
              <a:latin typeface="Tw Cen MT (Body)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Timing</a:t>
            </a:r>
            <a:r>
              <a:rPr lang="en-US" altLang="LID4096" dirty="0">
                <a:latin typeface="Tw Cen MT (Body)"/>
              </a:rPr>
              <a:t> 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Sales distributed across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multiple periods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FF00A3-7109-4A80-8F6F-5206F03CBCF5}"/>
              </a:ext>
            </a:extLst>
          </p:cNvPr>
          <p:cNvSpPr txBox="1"/>
          <p:nvPr/>
        </p:nvSpPr>
        <p:spPr>
          <a:xfrm>
            <a:off x="691752" y="1322526"/>
            <a:ext cx="86830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Analyse how house sale prices vary across central and outskirt areas over time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to 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support </a:t>
            </a:r>
            <a:endParaRPr kumimoji="0" lang="en-GB" altLang="LID4096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LID4096" dirty="0">
                <a:latin typeface="Tw Cen MT (Body)"/>
              </a:rPr>
              <a:t>his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diversified portfolio strategy.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BE27B4-E4F2-4E8C-8B15-67EDADF83FF3}"/>
              </a:ext>
            </a:extLst>
          </p:cNvPr>
          <p:cNvSpPr txBox="1"/>
          <p:nvPr/>
        </p:nvSpPr>
        <p:spPr>
          <a:xfrm>
            <a:off x="691752" y="3722808"/>
            <a:ext cx="4350765" cy="4616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b="1" i="0" dirty="0">
                <a:solidFill>
                  <a:schemeClr val="bg1"/>
                </a:solidFill>
                <a:effectLst/>
                <a:latin typeface="Tw Cen MT (Body)"/>
              </a:rPr>
              <a:t>Assumptions/Hypotheses</a:t>
            </a:r>
            <a:endParaRPr lang="LID4096" sz="2400" b="1" dirty="0">
              <a:solidFill>
                <a:schemeClr val="bg1"/>
              </a:solidFill>
              <a:latin typeface="Tw Cen MT (Body)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9F7F66-F807-474C-99D8-CE8E477FF33B}"/>
              </a:ext>
            </a:extLst>
          </p:cNvPr>
          <p:cNvSpPr txBox="1"/>
          <p:nvPr/>
        </p:nvSpPr>
        <p:spPr>
          <a:xfrm>
            <a:off x="691752" y="761874"/>
            <a:ext cx="1980428" cy="4616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LID4096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w Cen MT (Body)"/>
              </a:rPr>
              <a:t>Client Goal</a:t>
            </a:r>
          </a:p>
        </p:txBody>
      </p:sp>
    </p:spTree>
    <p:extLst>
      <p:ext uri="{BB962C8B-B14F-4D97-AF65-F5344CB8AC3E}">
        <p14:creationId xmlns:p14="http://schemas.microsoft.com/office/powerpoint/2010/main" val="3440080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4EB5CE-29B3-4C39-B16E-2C1D330D3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236146"/>
              </p:ext>
            </p:extLst>
          </p:nvPr>
        </p:nvGraphicFramePr>
        <p:xfrm>
          <a:off x="5779363" y="1078090"/>
          <a:ext cx="5974252" cy="1371600"/>
        </p:xfrm>
        <a:graphic>
          <a:graphicData uri="http://schemas.openxmlformats.org/drawingml/2006/table">
            <a:tbl>
              <a:tblPr/>
              <a:tblGrid>
                <a:gridCol w="2987126">
                  <a:extLst>
                    <a:ext uri="{9D8B030D-6E8A-4147-A177-3AD203B41FA5}">
                      <a16:colId xmlns:a16="http://schemas.microsoft.com/office/drawing/2014/main" val="1048789656"/>
                    </a:ext>
                  </a:extLst>
                </a:gridCol>
                <a:gridCol w="2987126">
                  <a:extLst>
                    <a:ext uri="{9D8B030D-6E8A-4147-A177-3AD203B41FA5}">
                      <a16:colId xmlns:a16="http://schemas.microsoft.com/office/drawing/2014/main" val="4102130078"/>
                    </a:ext>
                  </a:extLst>
                </a:gridCol>
              </a:tblGrid>
              <a:tr h="35814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Dataset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Main variables used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5004325"/>
                  </a:ext>
                </a:extLst>
              </a:tr>
              <a:tr h="358144">
                <a:tc>
                  <a:txBody>
                    <a:bodyPr/>
                    <a:lstStyle/>
                    <a:p>
                      <a:r>
                        <a:rPr lang="en-GB" dirty="0"/>
                        <a:t>king_county_house_details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 err="1"/>
                        <a:t>lat</a:t>
                      </a:r>
                      <a:r>
                        <a:rPr lang="en-GB" b="1" dirty="0"/>
                        <a:t>, long</a:t>
                      </a:r>
                      <a:r>
                        <a:rPr lang="en-GB" dirty="0"/>
                        <a:t>, (</a:t>
                      </a:r>
                      <a:r>
                        <a:rPr lang="en-GB" dirty="0" err="1"/>
                        <a:t>area_type</a:t>
                      </a:r>
                      <a:r>
                        <a:rPr lang="en-GB" dirty="0"/>
                        <a:t> from </a:t>
                      </a:r>
                      <a:r>
                        <a:rPr lang="en-GB" dirty="0" err="1"/>
                        <a:t>distance_to_centre</a:t>
                      </a:r>
                      <a:r>
                        <a:rPr lang="en-GB" dirty="0"/>
                        <a:t> 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0584635"/>
                  </a:ext>
                </a:extLst>
              </a:tr>
              <a:tr h="358144">
                <a:tc>
                  <a:txBody>
                    <a:bodyPr/>
                    <a:lstStyle/>
                    <a:p>
                      <a:r>
                        <a:rPr lang="en-GB" dirty="0"/>
                        <a:t>king_county_house_sales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Price</a:t>
                      </a:r>
                      <a:r>
                        <a:rPr lang="en-GB" dirty="0"/>
                        <a:t> (</a:t>
                      </a:r>
                      <a:r>
                        <a:rPr lang="en-GB" dirty="0" err="1"/>
                        <a:t>high_value</a:t>
                      </a:r>
                      <a:r>
                        <a:rPr lang="en-GB" dirty="0"/>
                        <a:t>), </a:t>
                      </a:r>
                      <a:r>
                        <a:rPr lang="en-GB" b="1" dirty="0"/>
                        <a:t>date</a:t>
                      </a:r>
                      <a:r>
                        <a:rPr lang="en-GB" dirty="0"/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077524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7AF7FCD-9216-4407-81EB-AC05FF97C283}"/>
              </a:ext>
            </a:extLst>
          </p:cNvPr>
          <p:cNvSpPr txBox="1"/>
          <p:nvPr/>
        </p:nvSpPr>
        <p:spPr>
          <a:xfrm>
            <a:off x="585926" y="1040074"/>
            <a:ext cx="496441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Data Assessment </a:t>
            </a:r>
          </a:p>
          <a:p>
            <a:r>
              <a:rPr lang="en-GB" b="1" dirty="0"/>
              <a:t>Step 1. Inspect</a:t>
            </a:r>
          </a:p>
          <a:p>
            <a:r>
              <a:rPr lang="en-GB" dirty="0"/>
              <a:t>Available variables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 Data types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 Identifiers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 Potential missing values </a:t>
            </a:r>
          </a:p>
          <a:p>
            <a:endParaRPr lang="en-GB" dirty="0"/>
          </a:p>
          <a:p>
            <a:r>
              <a:rPr lang="en-GB" b="1" dirty="0"/>
              <a:t>Step 2. Count</a:t>
            </a:r>
          </a:p>
          <a:p>
            <a:r>
              <a:rPr lang="en-GB" dirty="0"/>
              <a:t>Record counts were checked </a:t>
            </a:r>
            <a:r>
              <a:rPr lang="en-GB" b="1" dirty="0"/>
              <a:t>before the join</a:t>
            </a:r>
            <a:r>
              <a:rPr lang="en-GB" dirty="0"/>
              <a:t> to establish a baseline.</a:t>
            </a:r>
          </a:p>
          <a:p>
            <a:endParaRPr lang="en-GB" b="1" dirty="0"/>
          </a:p>
          <a:p>
            <a:r>
              <a:rPr lang="en-GB" b="1" dirty="0"/>
              <a:t>Step 3. Join</a:t>
            </a:r>
          </a:p>
          <a:p>
            <a:r>
              <a:rPr lang="en-GB" dirty="0"/>
              <a:t>Processed in </a:t>
            </a:r>
            <a:r>
              <a:rPr lang="en-GB" dirty="0" err="1"/>
              <a:t>Dbeaver</a:t>
            </a:r>
            <a:endParaRPr lang="en-GB" dirty="0"/>
          </a:p>
          <a:p>
            <a:endParaRPr lang="en-GB" b="1" dirty="0"/>
          </a:p>
          <a:p>
            <a:r>
              <a:rPr lang="en-GB" b="1" dirty="0"/>
              <a:t>Step 4. Validate</a:t>
            </a:r>
          </a:p>
          <a:p>
            <a:r>
              <a:rPr lang="en-GB" dirty="0"/>
              <a:t>The joined record count was compared with the original sales count to identify:</a:t>
            </a:r>
          </a:p>
          <a:p>
            <a:r>
              <a:rPr lang="en-GB" dirty="0"/>
              <a:t>Missing matches </a:t>
            </a:r>
          </a:p>
          <a:p>
            <a:r>
              <a:rPr lang="en-GB" dirty="0"/>
              <a:t>Unexpected duplication </a:t>
            </a:r>
          </a:p>
          <a:p>
            <a:r>
              <a:rPr lang="en-GB" dirty="0"/>
              <a:t>Multiple sales of the same property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C856D29-836C-41EC-93D4-3BEA124BF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3608" y="3056088"/>
            <a:ext cx="5974252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Preparing the data for analysis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Repeated property IDs retained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Missing categorical values retained as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unknown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LID4096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Important decision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Repeated property IDs were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not removed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because they may represent: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The same property being sold multiple times at different dates.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This is particularly important for the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temporal analysis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8F2F6A-3306-4156-B466-76BAC31620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23720" y="6457295"/>
            <a:ext cx="1068280" cy="365125"/>
          </a:xfrm>
        </p:spPr>
        <p:txBody>
          <a:bodyPr/>
          <a:lstStyle/>
          <a:p>
            <a:fld id="{A4FFF2FD-E501-4B9E-A2A9-D9887AE43C58}" type="datetime1">
              <a:rPr lang="LID4096" b="1" smtClean="0"/>
              <a:t>08/14/2026</a:t>
            </a:fld>
            <a:endParaRPr lang="LID4096" b="1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B8B773-B6DF-4B4D-9383-875DF7185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33165" y="6525087"/>
            <a:ext cx="452761" cy="273998"/>
          </a:xfrm>
        </p:spPr>
        <p:txBody>
          <a:bodyPr/>
          <a:lstStyle/>
          <a:p>
            <a:fld id="{DE873B33-7066-4CC4-AC23-4AD056EB015C}" type="slidenum">
              <a:rPr lang="LID4096" sz="1800" b="1" smtClean="0"/>
              <a:t>3</a:t>
            </a:fld>
            <a:endParaRPr lang="LID4096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57ED9E-AD95-4CA7-987D-3C8F1396D600}"/>
              </a:ext>
            </a:extLst>
          </p:cNvPr>
          <p:cNvSpPr txBox="1"/>
          <p:nvPr/>
        </p:nvSpPr>
        <p:spPr>
          <a:xfrm>
            <a:off x="585926" y="587230"/>
            <a:ext cx="3906175" cy="4616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Data analysis Method (1/1)</a:t>
            </a:r>
            <a:endParaRPr lang="LID4096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8508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EDDBD6-2037-4D96-8BBF-30D44DE39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873" y="1352691"/>
            <a:ext cx="5256836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Three dimensions of the housing portfolio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Have been assessed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LID4096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LOCATION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Central</a:t>
            </a:r>
            <a:r>
              <a:rPr lang="en-GB" altLang="LID4096" dirty="0">
                <a:latin typeface="Tw Cen MT (Body)"/>
              </a:rPr>
              <a:t> and 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Outskirts</a:t>
            </a:r>
            <a:r>
              <a:rPr kumimoji="0" lang="en-US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LID4096" dirty="0"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TIME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Multiple sales periods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Analytical framework</a:t>
            </a:r>
            <a:endParaRPr kumimoji="0" lang="en-GB" altLang="LID4096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GB" altLang="LID4096" dirty="0"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PRICE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Top 10%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</a:t>
            </a:r>
            <a:r>
              <a:rPr lang="en-GB" altLang="LID4096" dirty="0">
                <a:latin typeface="Tw Cen MT (Body)"/>
              </a:rPr>
              <a:t>high-priced houses</a:t>
            </a:r>
            <a:r>
              <a:rPr kumimoji="0" lang="en-US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vs.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Average-priced properties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LID4096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Price </a:t>
            </a:r>
            <a:r>
              <a:rPr kumimoji="0" lang="en-US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-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Location </a:t>
            </a:r>
            <a:r>
              <a:rPr kumimoji="0" lang="en-US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-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Time</a:t>
            </a:r>
            <a:endParaRPr kumimoji="0" lang="en-GB" altLang="LID4096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LID4096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This allows us to 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display </a:t>
            </a:r>
            <a:r>
              <a:rPr kumimoji="0" lang="en-US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w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here 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the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expensive houses located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, 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and 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what happens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over time</a:t>
            </a:r>
            <a:r>
              <a:rPr kumimoji="0" lang="en-US" altLang="LID4096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 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2216F4-6657-4B1A-91B4-3EFCE6277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802857"/>
            <a:ext cx="567112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Defining Central &amp; Outskirt Areas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The geographical centre is calculated using the median latitude and longitude of the King County house-sales dataset.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Central area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Properties located: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≤ 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13.89 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km from the median geographic centre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Tw Cen MT (Body)"/>
              </a:rPr>
              <a:t>Outskirt area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Properties located: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&gt; </a:t>
            </a:r>
            <a:r>
              <a:rPr kumimoji="0" lang="en-GB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13.89</a:t>
            </a: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 km from the median geographic centre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LID4096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w Cen MT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CENTRAL</a:t>
            </a:r>
            <a:b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</a:b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Higher proximity to the geographic centre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and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OUTSKIRTS</a:t>
            </a:r>
            <a:b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</a:br>
            <a:r>
              <a:rPr kumimoji="0" lang="LID4096" altLang="LID4096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w Cen MT (Body)"/>
              </a:rPr>
              <a:t>Greater distance from the centre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C8C0B-5FD5-4969-89AF-B23E445C71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03351" y="6492875"/>
            <a:ext cx="2743200" cy="365125"/>
          </a:xfrm>
        </p:spPr>
        <p:txBody>
          <a:bodyPr/>
          <a:lstStyle/>
          <a:p>
            <a:fld id="{394756C6-BAB4-4B36-983A-D55E4300CBE1}" type="datetime1">
              <a:rPr lang="LID4096" smtClean="0"/>
              <a:t>08/14/2026</a:t>
            </a:fld>
            <a:endParaRPr lang="LID4096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FC0CE-9055-4F69-A08B-2622B25CC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449" y="6492874"/>
            <a:ext cx="351090" cy="365125"/>
          </a:xfrm>
        </p:spPr>
        <p:txBody>
          <a:bodyPr/>
          <a:lstStyle/>
          <a:p>
            <a:fld id="{DE873B33-7066-4CC4-AC23-4AD056EB015C}" type="slidenum">
              <a:rPr lang="LID4096" sz="1800" b="1" smtClean="0"/>
              <a:t>4</a:t>
            </a:fld>
            <a:endParaRPr lang="LID4096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89B8F-349D-47D4-94DD-B5BD8146B5C8}"/>
              </a:ext>
            </a:extLst>
          </p:cNvPr>
          <p:cNvSpPr txBox="1"/>
          <p:nvPr/>
        </p:nvSpPr>
        <p:spPr>
          <a:xfrm>
            <a:off x="496539" y="538269"/>
            <a:ext cx="3889030" cy="4616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Tw Cen MT (Body)"/>
                <a:cs typeface="Arial" panose="020B0604020202020204" pitchFamily="34" charset="0"/>
              </a:rPr>
              <a:t>Data analysis Method (1/2)</a:t>
            </a:r>
            <a:endParaRPr lang="LID4096" sz="2400" b="1" dirty="0">
              <a:solidFill>
                <a:schemeClr val="bg1"/>
              </a:solidFill>
              <a:latin typeface="Tw Cen MT (Body)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746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2044CD0-6438-4C9C-87B6-3188CE47D344}"/>
              </a:ext>
            </a:extLst>
          </p:cNvPr>
          <p:cNvSpPr txBox="1"/>
          <p:nvPr/>
        </p:nvSpPr>
        <p:spPr>
          <a:xfrm>
            <a:off x="495986" y="1040085"/>
            <a:ext cx="47874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effectLst/>
                <a:latin typeface="Tw Cen MT (Body)"/>
              </a:rPr>
              <a:t>High-value central houses</a:t>
            </a:r>
            <a:endParaRPr lang="en-GB" b="1" dirty="0">
              <a:latin typeface="Tw Cen MT (Body)"/>
            </a:endParaRPr>
          </a:p>
          <a:p>
            <a:r>
              <a:rPr lang="en-GB" b="1" dirty="0">
                <a:solidFill>
                  <a:srgbClr val="FF0000"/>
                </a:solidFill>
                <a:latin typeface="Tw Cen MT (Body)"/>
              </a:rPr>
              <a:t>H1</a:t>
            </a:r>
            <a:r>
              <a:rPr lang="en-GB" dirty="0">
                <a:latin typeface="Tw Cen MT (Body)"/>
              </a:rPr>
              <a:t>: Central houses are more likely to be in the top 10% of prices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67CE-47D7-4857-AD86-1F8A3F609E5F}"/>
              </a:ext>
            </a:extLst>
          </p:cNvPr>
          <p:cNvSpPr txBox="1"/>
          <p:nvPr/>
        </p:nvSpPr>
        <p:spPr>
          <a:xfrm>
            <a:off x="588146" y="466234"/>
            <a:ext cx="2465772" cy="4616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 b="1" i="0" dirty="0">
                <a:solidFill>
                  <a:schemeClr val="bg1"/>
                </a:solidFill>
                <a:effectLst/>
                <a:latin typeface="Tw Cen MT (Body)"/>
              </a:rPr>
              <a:t>Key Insights</a:t>
            </a:r>
            <a:r>
              <a:rPr lang="en-US" sz="2400" b="1" dirty="0">
                <a:solidFill>
                  <a:schemeClr val="bg1"/>
                </a:solidFill>
                <a:latin typeface="Tw Cen MT (Body)"/>
              </a:rPr>
              <a:t> (1/1)</a:t>
            </a:r>
            <a:endParaRPr lang="LID4096" sz="2400" b="1" dirty="0">
              <a:solidFill>
                <a:schemeClr val="bg1"/>
              </a:solidFill>
              <a:latin typeface="Tw Cen MT (Body)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12F153-A934-4FCF-8769-26AE0A0BACEE}"/>
              </a:ext>
            </a:extLst>
          </p:cNvPr>
          <p:cNvSpPr txBox="1"/>
          <p:nvPr/>
        </p:nvSpPr>
        <p:spPr>
          <a:xfrm>
            <a:off x="539154" y="1973439"/>
            <a:ext cx="478744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  <a:latin typeface="Tw Cen MT (Body)"/>
              </a:rPr>
              <a:t>Top-10% properties are substantially more prevalent in central areas: 22.37% of central houses are in the top 10%, compared with only 5.88% of outskirt houses.</a:t>
            </a:r>
            <a:endParaRPr lang="LID4096" dirty="0">
              <a:solidFill>
                <a:srgbClr val="FF0000"/>
              </a:solidFill>
              <a:latin typeface="Tw Cen MT (Body)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2AAA5A96-02E9-48EE-992A-E136524ED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997827"/>
              </p:ext>
            </p:extLst>
          </p:nvPr>
        </p:nvGraphicFramePr>
        <p:xfrm>
          <a:off x="5326602" y="645744"/>
          <a:ext cx="6545822" cy="15851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459743">
                  <a:extLst>
                    <a:ext uri="{9D8B030D-6E8A-4147-A177-3AD203B41FA5}">
                      <a16:colId xmlns:a16="http://schemas.microsoft.com/office/drawing/2014/main" val="1002563755"/>
                    </a:ext>
                  </a:extLst>
                </a:gridCol>
                <a:gridCol w="1299429">
                  <a:extLst>
                    <a:ext uri="{9D8B030D-6E8A-4147-A177-3AD203B41FA5}">
                      <a16:colId xmlns:a16="http://schemas.microsoft.com/office/drawing/2014/main" val="3028464968"/>
                    </a:ext>
                  </a:extLst>
                </a:gridCol>
                <a:gridCol w="2528743">
                  <a:extLst>
                    <a:ext uri="{9D8B030D-6E8A-4147-A177-3AD203B41FA5}">
                      <a16:colId xmlns:a16="http://schemas.microsoft.com/office/drawing/2014/main" val="3849152997"/>
                    </a:ext>
                  </a:extLst>
                </a:gridCol>
                <a:gridCol w="2257907">
                  <a:extLst>
                    <a:ext uri="{9D8B030D-6E8A-4147-A177-3AD203B41FA5}">
                      <a16:colId xmlns:a16="http://schemas.microsoft.com/office/drawing/2014/main" val="1816340833"/>
                    </a:ext>
                  </a:extLst>
                </a:gridCol>
              </a:tblGrid>
              <a:tr h="741403">
                <a:tc>
                  <a:txBody>
                    <a:bodyPr/>
                    <a:lstStyle/>
                    <a:p>
                      <a:pPr algn="r" fontAlgn="ctr"/>
                      <a:r>
                        <a:rPr lang="en-GB" sz="1800" b="1" dirty="0">
                          <a:effectLst/>
                          <a:latin typeface="Tw Cen MT (Body)"/>
                        </a:rPr>
                        <a:t>Id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1" dirty="0">
                          <a:effectLst/>
                          <a:latin typeface="Tw Cen MT (Body)"/>
                        </a:rPr>
                        <a:t>Area_type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1" dirty="0">
                          <a:effectLst/>
                          <a:latin typeface="Tw Cen MT (Body)"/>
                        </a:rPr>
                        <a:t>Number_of_top_10_houses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i="0" kern="1200" dirty="0">
                          <a:solidFill>
                            <a:schemeClr val="dk1"/>
                          </a:solidFill>
                          <a:effectLst/>
                          <a:latin typeface="Tw Cen MT (Body)"/>
                          <a:ea typeface="+mn-ea"/>
                          <a:cs typeface="+mn-cs"/>
                        </a:rPr>
                        <a:t>Percentage_within_area (%)</a:t>
                      </a:r>
                      <a:endParaRPr lang="LID4096" sz="1800" dirty="0">
                        <a:latin typeface="Tw Cen MT (Body)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109975"/>
                  </a:ext>
                </a:extLst>
              </a:tr>
              <a:tr h="309067">
                <a:tc>
                  <a:txBody>
                    <a:bodyPr/>
                    <a:lstStyle/>
                    <a:p>
                      <a:pPr algn="r" fontAlgn="ctr"/>
                      <a:r>
                        <a:rPr lang="en-GH" sz="1800" b="0" dirty="0">
                          <a:effectLst/>
                          <a:latin typeface="Tw Cen MT (Body)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B" sz="1800">
                          <a:effectLst/>
                          <a:latin typeface="Tw Cen MT (Body)"/>
                        </a:rPr>
                        <a:t>Central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H" sz="1800" dirty="0">
                          <a:effectLst/>
                          <a:latin typeface="Tw Cen MT (Body)"/>
                        </a:rPr>
                        <a:t>1208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H" sz="1800">
                          <a:effectLst/>
                          <a:latin typeface="Tw Cen MT (Body)"/>
                        </a:rPr>
                        <a:t>22.37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856019999"/>
                  </a:ext>
                </a:extLst>
              </a:tr>
              <a:tr h="508417">
                <a:tc>
                  <a:txBody>
                    <a:bodyPr/>
                    <a:lstStyle/>
                    <a:p>
                      <a:pPr algn="r" fontAlgn="ctr"/>
                      <a:r>
                        <a:rPr lang="en-GH" sz="1800" b="0">
                          <a:effectLst/>
                          <a:latin typeface="Tw Cen MT (Body)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B" sz="1800">
                          <a:effectLst/>
                          <a:latin typeface="Tw Cen MT (Body)"/>
                        </a:rPr>
                        <a:t>Outskirts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H" sz="1800" dirty="0">
                          <a:effectLst/>
                          <a:latin typeface="Tw Cen MT (Body)"/>
                        </a:rPr>
                        <a:t>953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H" sz="1800" dirty="0">
                          <a:effectLst/>
                          <a:latin typeface="Tw Cen MT (Body)"/>
                        </a:rPr>
                        <a:t>5.88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621923122"/>
                  </a:ext>
                </a:extLst>
              </a:tr>
            </a:tbl>
          </a:graphicData>
        </a:graphic>
      </p:graphicFrame>
      <p:pic>
        <p:nvPicPr>
          <p:cNvPr id="32" name="Picture 31">
            <a:extLst>
              <a:ext uri="{FF2B5EF4-FFF2-40B4-BE49-F238E27FC236}">
                <a16:creationId xmlns:a16="http://schemas.microsoft.com/office/drawing/2014/main" id="{92A4A59B-30CC-4343-AF8C-2598C432C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138" y="2430342"/>
            <a:ext cx="6073286" cy="40215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FBA77C5-BFA4-41A9-8029-D914D6EEF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47" y="3173768"/>
            <a:ext cx="5307741" cy="3638495"/>
          </a:xfrm>
          <a:prstGeom prst="rect">
            <a:avLst/>
          </a:prstGeom>
        </p:spPr>
      </p:pic>
      <p:sp>
        <p:nvSpPr>
          <p:cNvPr id="35" name="Date Placeholder 34">
            <a:extLst>
              <a:ext uri="{FF2B5EF4-FFF2-40B4-BE49-F238E27FC236}">
                <a16:creationId xmlns:a16="http://schemas.microsoft.com/office/drawing/2014/main" id="{D1FB8E2C-5760-46F0-8E4E-9BB9F7772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03351" y="6506484"/>
            <a:ext cx="2743200" cy="365125"/>
          </a:xfrm>
        </p:spPr>
        <p:txBody>
          <a:bodyPr/>
          <a:lstStyle/>
          <a:p>
            <a:fld id="{BF34A7A4-B69A-4274-B79E-3BFB4E47A14C}" type="datetime1">
              <a:rPr lang="LID4096" b="1" smtClean="0"/>
              <a:t>08/14/2026</a:t>
            </a:fld>
            <a:endParaRPr lang="LID4096" b="1" dirty="0"/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4C120769-4C5F-4750-A39C-97D900BB3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449" y="6506484"/>
            <a:ext cx="442697" cy="365125"/>
          </a:xfrm>
        </p:spPr>
        <p:txBody>
          <a:bodyPr/>
          <a:lstStyle/>
          <a:p>
            <a:fld id="{DE873B33-7066-4CC4-AC23-4AD056EB015C}" type="slidenum">
              <a:rPr lang="LID4096" sz="1800" b="1" smtClean="0"/>
              <a:t>5</a:t>
            </a:fld>
            <a:endParaRPr lang="LID4096" sz="1800" b="1" dirty="0"/>
          </a:p>
        </p:txBody>
      </p:sp>
    </p:spTree>
    <p:extLst>
      <p:ext uri="{BB962C8B-B14F-4D97-AF65-F5344CB8AC3E}">
        <p14:creationId xmlns:p14="http://schemas.microsoft.com/office/powerpoint/2010/main" val="382073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6ECE323-A289-42C7-A02C-22819C5DB3B7}"/>
              </a:ext>
            </a:extLst>
          </p:cNvPr>
          <p:cNvSpPr txBox="1"/>
          <p:nvPr/>
        </p:nvSpPr>
        <p:spPr>
          <a:xfrm>
            <a:off x="3225224" y="562944"/>
            <a:ext cx="6238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Tw Cen MT (Body)"/>
              </a:rPr>
              <a:t>Sales Over Time</a:t>
            </a:r>
            <a:endParaRPr lang="en-GB" b="0" dirty="0">
              <a:effectLst/>
              <a:latin typeface="Tw Cen MT (Body)"/>
            </a:endParaRPr>
          </a:p>
          <a:p>
            <a:r>
              <a:rPr lang="en-GB" b="1" dirty="0">
                <a:solidFill>
                  <a:srgbClr val="FF0000"/>
                </a:solidFill>
                <a:effectLst/>
                <a:latin typeface="Tw Cen MT (Body)"/>
              </a:rPr>
              <a:t>H2</a:t>
            </a:r>
            <a:r>
              <a:rPr lang="en-GB" b="0" dirty="0">
                <a:effectLst/>
                <a:latin typeface="Tw Cen MT (Body)"/>
              </a:rPr>
              <a:t>: High-value central houses are sold across several periods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C6F8BB-559C-4F9D-82A7-3D50C26CB54B}"/>
              </a:ext>
            </a:extLst>
          </p:cNvPr>
          <p:cNvSpPr txBox="1"/>
          <p:nvPr/>
        </p:nvSpPr>
        <p:spPr>
          <a:xfrm>
            <a:off x="2035206" y="5602558"/>
            <a:ext cx="7538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High-value central properties are sold across several periods, rather than being concentrated in a single period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2BEBDCC-7A89-437F-82C9-1E5DF24D0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46" y="1637928"/>
            <a:ext cx="10784149" cy="381297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66321-831C-49C7-8AEE-4ED38D2081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03350" y="6492875"/>
            <a:ext cx="2743200" cy="365125"/>
          </a:xfrm>
        </p:spPr>
        <p:txBody>
          <a:bodyPr/>
          <a:lstStyle/>
          <a:p>
            <a:fld id="{FCBC64FC-6781-48B2-BBFF-B4DA5E0DFA71}" type="datetime1">
              <a:rPr lang="LID4096" b="1" smtClean="0"/>
              <a:t>08/14/2026</a:t>
            </a:fld>
            <a:endParaRPr lang="LID4096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13C5F-05D0-4EF9-BBD0-C537AC0D3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261" y="6466473"/>
            <a:ext cx="497885" cy="365125"/>
          </a:xfrm>
        </p:spPr>
        <p:txBody>
          <a:bodyPr/>
          <a:lstStyle/>
          <a:p>
            <a:fld id="{DE873B33-7066-4CC4-AC23-4AD056EB015C}" type="slidenum">
              <a:rPr lang="LID4096" sz="1800" b="1" smtClean="0"/>
              <a:t>6</a:t>
            </a:fld>
            <a:endParaRPr lang="LID4096" sz="1800" b="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B5CC56-BBA5-4C5F-B09F-537FDAD11D83}"/>
              </a:ext>
            </a:extLst>
          </p:cNvPr>
          <p:cNvSpPr txBox="1"/>
          <p:nvPr/>
        </p:nvSpPr>
        <p:spPr>
          <a:xfrm>
            <a:off x="481612" y="391527"/>
            <a:ext cx="2501285" cy="4616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 b="1" i="0" dirty="0">
                <a:solidFill>
                  <a:schemeClr val="bg1"/>
                </a:solidFill>
                <a:effectLst/>
                <a:latin typeface="Tw Cen MT (Body)"/>
              </a:rPr>
              <a:t>Key Insights</a:t>
            </a:r>
            <a:r>
              <a:rPr lang="en-US" sz="2400" b="1" dirty="0">
                <a:solidFill>
                  <a:schemeClr val="bg1"/>
                </a:solidFill>
                <a:latin typeface="Tw Cen MT (Body)"/>
              </a:rPr>
              <a:t> (1/2)</a:t>
            </a:r>
            <a:endParaRPr lang="LID4096" sz="2400" b="1" dirty="0">
              <a:solidFill>
                <a:schemeClr val="bg1"/>
              </a:solidFill>
              <a:latin typeface="Tw Cen MT (Body)"/>
            </a:endParaRPr>
          </a:p>
        </p:txBody>
      </p:sp>
    </p:spTree>
    <p:extLst>
      <p:ext uri="{BB962C8B-B14F-4D97-AF65-F5344CB8AC3E}">
        <p14:creationId xmlns:p14="http://schemas.microsoft.com/office/powerpoint/2010/main" val="3494632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2E234D-356C-4E95-92A4-EDFBF5528530}"/>
              </a:ext>
            </a:extLst>
          </p:cNvPr>
          <p:cNvSpPr txBox="1"/>
          <p:nvPr/>
        </p:nvSpPr>
        <p:spPr>
          <a:xfrm>
            <a:off x="460160" y="962759"/>
            <a:ext cx="50454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Tw Cen MT (Body)"/>
              </a:rPr>
              <a:t>Average-priced outskirts houses</a:t>
            </a:r>
          </a:p>
          <a:p>
            <a:r>
              <a:rPr lang="en-GB" b="1" dirty="0">
                <a:solidFill>
                  <a:srgbClr val="FF0000"/>
                </a:solidFill>
                <a:latin typeface="Tw Cen MT (Body)"/>
              </a:rPr>
              <a:t>H3</a:t>
            </a:r>
            <a:r>
              <a:rPr lang="en-GB" dirty="0">
                <a:latin typeface="Tw Cen MT (Body)"/>
              </a:rPr>
              <a:t>: Outskirts houses are more likely to have average prices</a:t>
            </a:r>
            <a:endParaRPr lang="LID4096" dirty="0">
              <a:latin typeface="Tw Cen MT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6F537-4E19-4423-94B4-8ADF8FCCE46F}"/>
              </a:ext>
            </a:extLst>
          </p:cNvPr>
          <p:cNvSpPr txBox="1"/>
          <p:nvPr/>
        </p:nvSpPr>
        <p:spPr>
          <a:xfrm>
            <a:off x="784935" y="4631009"/>
            <a:ext cx="50454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Tw Cen MT (Body)"/>
              </a:rPr>
              <a:t>Average-priced properties are more prevalent in the outskirts: 53.42% compared with 40.37% in central areas</a:t>
            </a:r>
            <a:endParaRPr lang="LID4096" b="1" dirty="0">
              <a:solidFill>
                <a:srgbClr val="FF0000"/>
              </a:solidFill>
              <a:latin typeface="Tw Cen MT (Body)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5090ED-786C-4423-880C-E5A2904F06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363478"/>
              </p:ext>
            </p:extLst>
          </p:nvPr>
        </p:nvGraphicFramePr>
        <p:xfrm>
          <a:off x="1108230" y="2690452"/>
          <a:ext cx="4138473" cy="103632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440915">
                  <a:extLst>
                    <a:ext uri="{9D8B030D-6E8A-4147-A177-3AD203B41FA5}">
                      <a16:colId xmlns:a16="http://schemas.microsoft.com/office/drawing/2014/main" val="2705698865"/>
                    </a:ext>
                  </a:extLst>
                </a:gridCol>
                <a:gridCol w="1726208">
                  <a:extLst>
                    <a:ext uri="{9D8B030D-6E8A-4147-A177-3AD203B41FA5}">
                      <a16:colId xmlns:a16="http://schemas.microsoft.com/office/drawing/2014/main" val="2182134920"/>
                    </a:ext>
                  </a:extLst>
                </a:gridCol>
                <a:gridCol w="1971350">
                  <a:extLst>
                    <a:ext uri="{9D8B030D-6E8A-4147-A177-3AD203B41FA5}">
                      <a16:colId xmlns:a16="http://schemas.microsoft.com/office/drawing/2014/main" val="27005553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ctr"/>
                      <a:r>
                        <a:rPr lang="en-GB" dirty="0">
                          <a:effectLst/>
                          <a:latin typeface="Tw Cen MT (Body)"/>
                        </a:rPr>
                        <a:t>id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>
                          <a:effectLst/>
                          <a:latin typeface="Tw Cen MT (Body)"/>
                        </a:rPr>
                        <a:t>Area type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>
                          <a:effectLst/>
                          <a:latin typeface="Tw Cen MT (Body)"/>
                        </a:rPr>
                        <a:t>Average price (%)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474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/>
                      <a:r>
                        <a:rPr lang="en-GH" b="0">
                          <a:effectLst/>
                          <a:latin typeface="Tw Cen MT (Body)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  <a:latin typeface="Tw Cen MT (Body)"/>
                        </a:rPr>
                        <a:t>Central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H" dirty="0">
                          <a:effectLst/>
                          <a:latin typeface="Tw Cen MT (Body)"/>
                        </a:rPr>
                        <a:t>40.37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09739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/>
                      <a:r>
                        <a:rPr lang="en-GH" b="0">
                          <a:effectLst/>
                          <a:latin typeface="Tw Cen MT (Body)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  <a:latin typeface="Tw Cen MT (Body)"/>
                        </a:rPr>
                        <a:t>Outskirts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r>
                        <a:rPr lang="en-GH" dirty="0">
                          <a:effectLst/>
                          <a:latin typeface="Tw Cen MT (Body)"/>
                        </a:rPr>
                        <a:t>53.4</a:t>
                      </a:r>
                      <a:r>
                        <a:rPr lang="en-GB" dirty="0">
                          <a:effectLst/>
                          <a:latin typeface="Tw Cen MT (Body)"/>
                        </a:rPr>
                        <a:t>2</a:t>
                      </a:r>
                      <a:endParaRPr lang="en-GH" dirty="0">
                        <a:effectLst/>
                        <a:latin typeface="Tw Cen MT (Body)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79680250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B2D51D6-A4A6-4060-B9DD-417AF10B3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2756" y="962759"/>
            <a:ext cx="6132325" cy="4951365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4147D5-1921-4541-AC58-2D92AD56AD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50085" y="6492875"/>
            <a:ext cx="2743200" cy="365125"/>
          </a:xfrm>
        </p:spPr>
        <p:txBody>
          <a:bodyPr/>
          <a:lstStyle/>
          <a:p>
            <a:fld id="{1680147E-5A65-47E9-B91F-2224BA94CCE9}" type="datetime1">
              <a:rPr lang="LID4096" b="1" smtClean="0"/>
              <a:t>08/14/2026</a:t>
            </a:fld>
            <a:endParaRPr lang="LID4096" b="1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629980-66EF-4D99-A6E8-468985AD0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715" y="6383138"/>
            <a:ext cx="382107" cy="365125"/>
          </a:xfrm>
        </p:spPr>
        <p:txBody>
          <a:bodyPr/>
          <a:lstStyle/>
          <a:p>
            <a:fld id="{DE873B33-7066-4CC4-AC23-4AD056EB015C}" type="slidenum">
              <a:rPr lang="LID4096" sz="1800" b="1" smtClean="0"/>
              <a:t>7</a:t>
            </a:fld>
            <a:endParaRPr lang="LID4096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ED83E1-3C58-48A1-B1F0-4AF6DFCB5C34}"/>
              </a:ext>
            </a:extLst>
          </p:cNvPr>
          <p:cNvSpPr txBox="1"/>
          <p:nvPr/>
        </p:nvSpPr>
        <p:spPr>
          <a:xfrm>
            <a:off x="460160" y="382097"/>
            <a:ext cx="2558248" cy="4616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 b="1" i="0" dirty="0">
                <a:solidFill>
                  <a:schemeClr val="bg1"/>
                </a:solidFill>
                <a:effectLst/>
                <a:latin typeface="gg sans"/>
              </a:rPr>
              <a:t>Key Insights</a:t>
            </a:r>
            <a:r>
              <a:rPr lang="en-US" sz="2400" b="1" dirty="0">
                <a:solidFill>
                  <a:schemeClr val="bg1"/>
                </a:solidFill>
              </a:rPr>
              <a:t> (1/3)</a:t>
            </a:r>
            <a:endParaRPr lang="LID4096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8590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21A9C-972F-4CA2-9ADE-47AF855276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B8132081-7698-4D9F-9F70-6FD8CFA17ED9}" type="datetime1">
              <a:rPr lang="LID4096" b="1" smtClean="0"/>
              <a:t>08/14/2026</a:t>
            </a:fld>
            <a:endParaRPr lang="LID4096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88ECAD-4141-4713-990B-0DD70ACC4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492874"/>
            <a:ext cx="764215" cy="365125"/>
          </a:xfrm>
        </p:spPr>
        <p:txBody>
          <a:bodyPr/>
          <a:lstStyle/>
          <a:p>
            <a:fld id="{DE873B33-7066-4CC4-AC23-4AD056EB015C}" type="slidenum">
              <a:rPr lang="LID4096" sz="1800" b="1" smtClean="0"/>
              <a:t>8</a:t>
            </a:fld>
            <a:endParaRPr lang="LID4096" sz="1800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4BAD38-11F2-463E-ADF0-5B53E4D72868}"/>
              </a:ext>
            </a:extLst>
          </p:cNvPr>
          <p:cNvSpPr txBox="1"/>
          <p:nvPr/>
        </p:nvSpPr>
        <p:spPr>
          <a:xfrm>
            <a:off x="1003176" y="985422"/>
            <a:ext cx="3302494" cy="4616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Tw Cen MT (Body)"/>
              </a:rPr>
              <a:t>Recommendations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8FA3B3-B548-49AF-8926-33CF6350CA28}"/>
              </a:ext>
            </a:extLst>
          </p:cNvPr>
          <p:cNvSpPr txBox="1"/>
          <p:nvPr/>
        </p:nvSpPr>
        <p:spPr>
          <a:xfrm>
            <a:off x="1207363" y="1801245"/>
            <a:ext cx="888654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Tw Cen MT (Body)"/>
              </a:rPr>
              <a:t>Based on the Key Insights :</a:t>
            </a:r>
          </a:p>
          <a:p>
            <a:endParaRPr lang="en-GB" dirty="0">
              <a:latin typeface="Tw Cen MT (Body)"/>
            </a:endParaRPr>
          </a:p>
          <a:p>
            <a:r>
              <a:rPr lang="en-GB" dirty="0">
                <a:solidFill>
                  <a:srgbClr val="FF0000"/>
                </a:solidFill>
                <a:latin typeface="Tw Cen MT (Body)"/>
              </a:rPr>
              <a:t>we recommend a diversified portfolio strategy </a:t>
            </a:r>
            <a:r>
              <a:rPr lang="en-GB" b="1" dirty="0">
                <a:solidFill>
                  <a:schemeClr val="accent6">
                    <a:lumMod val="75000"/>
                  </a:schemeClr>
                </a:solidFill>
                <a:latin typeface="Tw Cen MT (Body)"/>
              </a:rPr>
              <a:t>combining</a:t>
            </a:r>
            <a:r>
              <a:rPr lang="en-GB" b="1" dirty="0">
                <a:solidFill>
                  <a:srgbClr val="FF0000"/>
                </a:solidFill>
                <a:latin typeface="Tw Cen MT (Body)"/>
              </a:rPr>
              <a:t> </a:t>
            </a:r>
            <a:r>
              <a:rPr lang="en-GB" dirty="0">
                <a:solidFill>
                  <a:srgbClr val="FF0000"/>
                </a:solidFill>
                <a:latin typeface="Tw Cen MT (Body)"/>
              </a:rPr>
              <a:t>high-value properties in central areas while </a:t>
            </a:r>
            <a:r>
              <a:rPr lang="en-GB" b="1" dirty="0">
                <a:solidFill>
                  <a:schemeClr val="accent6">
                    <a:lumMod val="75000"/>
                  </a:schemeClr>
                </a:solidFill>
                <a:latin typeface="Tw Cen MT (Body)"/>
              </a:rPr>
              <a:t>incorporating</a:t>
            </a:r>
            <a:r>
              <a:rPr lang="en-GB" b="1" dirty="0">
                <a:solidFill>
                  <a:srgbClr val="FF0000"/>
                </a:solidFill>
                <a:latin typeface="Tw Cen MT (Body)"/>
              </a:rPr>
              <a:t> </a:t>
            </a:r>
            <a:r>
              <a:rPr lang="en-GB" dirty="0">
                <a:solidFill>
                  <a:srgbClr val="FF0000"/>
                </a:solidFill>
                <a:latin typeface="Tw Cen MT (Body)"/>
              </a:rPr>
              <a:t>average-priced properties in the outskirts, by Keep monitoring how both </a:t>
            </a:r>
            <a:r>
              <a:rPr lang="en-GB" b="1" dirty="0">
                <a:solidFill>
                  <a:schemeClr val="accent6">
                    <a:lumMod val="75000"/>
                  </a:schemeClr>
                </a:solidFill>
                <a:latin typeface="Tw Cen MT (Body)"/>
              </a:rPr>
              <a:t>segments are distributed over time</a:t>
            </a:r>
            <a:r>
              <a:rPr lang="en-GB" b="1" dirty="0">
                <a:solidFill>
                  <a:srgbClr val="FF0000"/>
                </a:solidFill>
                <a:latin typeface="Tw Cen MT (Body)"/>
              </a:rPr>
              <a:t>.</a:t>
            </a:r>
          </a:p>
          <a:p>
            <a:endParaRPr lang="en-GB" dirty="0">
              <a:latin typeface="Tw Cen MT (Body)"/>
            </a:endParaRPr>
          </a:p>
          <a:p>
            <a:endParaRPr lang="en-GB" dirty="0">
              <a:latin typeface="Tw Cen MT (Body)"/>
            </a:endParaRPr>
          </a:p>
          <a:p>
            <a:r>
              <a:rPr lang="en-GB" b="1" dirty="0">
                <a:latin typeface="Tw Cen MT (Body)"/>
              </a:rPr>
              <a:t>a. Central: High-value</a:t>
            </a:r>
            <a:br>
              <a:rPr lang="en-GB" dirty="0">
                <a:latin typeface="Tw Cen MT (Body)"/>
              </a:rPr>
            </a:br>
            <a:r>
              <a:rPr lang="en-GB" dirty="0">
                <a:latin typeface="Tw Cen MT (Body)"/>
              </a:rPr>
              <a:t>Prioritize top-10% properties in central areas.</a:t>
            </a:r>
          </a:p>
          <a:p>
            <a:r>
              <a:rPr lang="en-GB" b="1" dirty="0">
                <a:latin typeface="Tw Cen MT (Body)"/>
              </a:rPr>
              <a:t>b. Outskirts: Average-priced properties</a:t>
            </a:r>
            <a:br>
              <a:rPr lang="en-GB" dirty="0">
                <a:latin typeface="Tw Cen MT (Body)"/>
              </a:rPr>
            </a:br>
            <a:r>
              <a:rPr lang="en-GB" dirty="0">
                <a:latin typeface="Tw Cen MT (Body)"/>
              </a:rPr>
              <a:t>Incorporating average-priced properties in outskirt areas.</a:t>
            </a:r>
          </a:p>
          <a:p>
            <a:r>
              <a:rPr lang="en-GB" b="1" dirty="0">
                <a:latin typeface="Tw Cen MT (Body)"/>
              </a:rPr>
              <a:t>c. Across time: monitor both segments</a:t>
            </a:r>
            <a:br>
              <a:rPr lang="en-GB" dirty="0">
                <a:latin typeface="Tw Cen MT (Body)"/>
              </a:rPr>
            </a:br>
            <a:r>
              <a:rPr lang="en-GB" dirty="0">
                <a:latin typeface="Tw Cen MT (Body)"/>
              </a:rPr>
              <a:t>Distribute both property segments across multiple periods.</a:t>
            </a:r>
          </a:p>
          <a:p>
            <a:endParaRPr lang="LID4096" dirty="0">
              <a:latin typeface="Tw Cen MT (Body)"/>
            </a:endParaRPr>
          </a:p>
        </p:txBody>
      </p:sp>
    </p:spTree>
    <p:extLst>
      <p:ext uri="{BB962C8B-B14F-4D97-AF65-F5344CB8AC3E}">
        <p14:creationId xmlns:p14="http://schemas.microsoft.com/office/powerpoint/2010/main" val="854149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Penguin Holds A Sign With An Inscription THANK YOU. Vector Illustration Royalty Free SVG, Cliparts, Vectors, and Stock Illustration. Image 80565395.">
            <a:extLst>
              <a:ext uri="{FF2B5EF4-FFF2-40B4-BE49-F238E27FC236}">
                <a16:creationId xmlns:a16="http://schemas.microsoft.com/office/drawing/2014/main" id="{99256D59-8F0B-44DB-AD85-A865311910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8496" y="1257567"/>
            <a:ext cx="3443148" cy="4342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Cartoon-like Penguin Presenting a White Sign with Thank You Written in Bold. Stock Photo - Image of audience, marketing: 428586730">
            <a:extLst>
              <a:ext uri="{FF2B5EF4-FFF2-40B4-BE49-F238E27FC236}">
                <a16:creationId xmlns:a16="http://schemas.microsoft.com/office/drawing/2014/main" id="{8EE907BF-C801-450E-B893-F15A4E654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574414">
            <a:off x="8854093" y="361050"/>
            <a:ext cx="2285210" cy="2983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Greeting Card Penguin Saying Thank You Stock Vector (Royalty Free) 1723749487 | Shutterstock">
            <a:extLst>
              <a:ext uri="{FF2B5EF4-FFF2-40B4-BE49-F238E27FC236}">
                <a16:creationId xmlns:a16="http://schemas.microsoft.com/office/drawing/2014/main" id="{6847C9D9-C196-46CF-8C74-9BD0460D6B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77"/>
          <a:stretch/>
        </p:blipFill>
        <p:spPr bwMode="auto">
          <a:xfrm rot="1106804">
            <a:off x="9520712" y="4199620"/>
            <a:ext cx="2146507" cy="2161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Cute Penguin Sticker - Cute Penguin Thx - Discover &amp; Share GIFs">
            <a:extLst>
              <a:ext uri="{FF2B5EF4-FFF2-40B4-BE49-F238E27FC236}">
                <a16:creationId xmlns:a16="http://schemas.microsoft.com/office/drawing/2014/main" id="{8ACEC9F2-5B2A-41E3-A212-419D07498B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054008">
            <a:off x="1171249" y="3682522"/>
            <a:ext cx="2651693" cy="2651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8" name="Picture 10" descr="Penguin Thank You">
            <a:extLst>
              <a:ext uri="{FF2B5EF4-FFF2-40B4-BE49-F238E27FC236}">
                <a16:creationId xmlns:a16="http://schemas.microsoft.com/office/drawing/2014/main" id="{00070F2C-93FD-444F-897C-7AC8B1F14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535487">
            <a:off x="836546" y="493925"/>
            <a:ext cx="2819076" cy="2819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80F79-9212-4DB4-900B-8C7BFE83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B051F-B844-411E-BC51-E79342045B7F}" type="datetime1">
              <a:rPr lang="LID4096" smtClean="0"/>
              <a:t>08/14/2026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DF947-C2AC-489D-A7A5-42335BC86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73B33-7066-4CC4-AC23-4AD056EB015C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8520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1774</TotalTime>
  <Words>759</Words>
  <Application>Microsoft Office PowerPoint</Application>
  <PresentationFormat>Widescreen</PresentationFormat>
  <Paragraphs>145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gg sans</vt:lpstr>
      <vt:lpstr>Tw Cen MT (Body)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Kueshi Sémanou DAHAN</dc:creator>
  <cp:lastModifiedBy>Kueshi Sémanou DAHAN</cp:lastModifiedBy>
  <cp:revision>81</cp:revision>
  <dcterms:created xsi:type="dcterms:W3CDTF">2026-08-13T08:50:49Z</dcterms:created>
  <dcterms:modified xsi:type="dcterms:W3CDTF">2026-08-14T16:06:16Z</dcterms:modified>
</cp:coreProperties>
</file>